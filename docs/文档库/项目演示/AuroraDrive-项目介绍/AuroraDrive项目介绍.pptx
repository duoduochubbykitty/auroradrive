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封面。项目定位一句话：macOS 上针对《异环》的视角自动驾驶系统，屏幕到按键的闭环。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核心判断：系统靠降级梯子保持可用，而不是靠单一模型。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概念结构：六层职责串成一条闭环，依赖自上而下。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实例讲解：一次 tick 的三段路径。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自测表：三种现象下系统退到哪一档。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趋势页：速度识别的三道校验闸门，按触发顺序排列。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学习复盘：网络定位四阶段，高亮抓包环节——历史故障集中在这里。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说明本项目的验证约定：判据先写，再看结果。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复核文化：文档里写过的数字也要重核，两处差距靠实测发现。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时间线：四个真实里程碑，日期取自仓库记录。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四条待办按依赖排序，闸门前不对外发布结论。时间窗为规划示意。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收尾页。一句话结论加深色侧卡。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04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AURORADRIVE / 极光智行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609600" y="8636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macOS 上的《异环》视角自动驾驶系统</a:t>
            </a:r>
            <a:endParaRPr lang="en-US" sz="3100" dirty="0"/>
          </a:p>
        </p:txBody>
      </p:sp>
      <p:sp>
        <p:nvSpPr>
          <p:cNvPr id="4" name="hero"/>
          <p:cNvSpPr/>
          <p:nvPr/>
        </p:nvSpPr>
        <p:spPr>
          <a:xfrm>
            <a:off x="609600" y="1854200"/>
            <a:ext cx="8001000" cy="248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从屏幕到按键，</a:t>
            </a:r>
            <a:endParaRPr lang="en-US" sz="6200" dirty="0"/>
          </a:p>
          <a:p>
            <a:pPr algn="l" indent="0" marL="0">
              <a:buNone/>
            </a:pPr>
            <a:r>
              <a:rPr lang="en-US" sz="62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一条 30Hz 的闭环。</a:t>
            </a:r>
            <a:endParaRPr lang="en-US" sz="6200" dirty="0"/>
          </a:p>
        </p:txBody>
      </p:sp>
      <p:sp>
        <p:nvSpPr>
          <p:cNvPr id="5" name="heroCard"/>
          <p:cNvSpPr/>
          <p:nvPr/>
        </p:nvSpPr>
        <p:spPr>
          <a:xfrm>
            <a:off x="9093200" y="1854200"/>
            <a:ext cx="2489200" cy="3225800"/>
          </a:xfrm>
          <a:prstGeom prst="rect">
            <a:avLst/>
          </a:prstGeom>
          <a:solidFill>
            <a:srgbClr val="E5EBDD"/>
          </a:solidFill>
          <a:ln w="12700">
            <a:solidFill>
              <a:srgbClr val="E5EBDD"/>
            </a:solidFill>
            <a:prstDash val="solid"/>
          </a:ln>
        </p:spPr>
      </p:sp>
      <p:sp>
        <p:nvSpPr>
          <p:cNvPr id="6" name="heroCardText"/>
          <p:cNvSpPr/>
          <p:nvPr/>
        </p:nvSpPr>
        <p:spPr>
          <a:xfrm>
            <a:off x="9398000" y="2311400"/>
            <a:ext cx="1930400" cy="233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捕获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推理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控制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显示</a:t>
            </a:r>
            <a:endParaRPr lang="en-US" sz="2100" dirty="0"/>
          </a:p>
        </p:txBody>
      </p:sp>
      <p:sp>
        <p:nvSpPr>
          <p:cNvPr id="7" name="sub"/>
          <p:cNvSpPr/>
          <p:nvPr/>
        </p:nvSpPr>
        <p:spPr>
          <a:xfrm>
            <a:off x="609600" y="4978400"/>
            <a:ext cx="787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屏幕捕获 → CoreML 推理 → 按键注入 · 41 个 Swift 文件 / 26,440 行</a:t>
            </a:r>
            <a:endParaRPr lang="en-US" sz="1900" dirty="0"/>
          </a:p>
        </p:txBody>
      </p:sp>
      <p:sp>
        <p:nvSpPr>
          <p:cNvPr id="8" name="footer"/>
          <p:cNvSpPr/>
          <p:nvPr/>
        </p:nvSpPr>
        <p:spPr>
          <a:xfrm>
            <a:off x="609600" y="6413500"/>
            <a:ext cx="994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C8C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来源：README.md 与《代码-00 源码树与架构总览》 · 2026-09-29 复核</a:t>
            </a:r>
            <a:endParaRPr lang="en-US" sz="900" dirty="0"/>
          </a:p>
        </p:txBody>
      </p:sp>
      <p:sp>
        <p:nvSpPr>
          <p:cNvPr id="9" name="pageno"/>
          <p:cNvSpPr/>
          <p:nvPr/>
        </p:nvSpPr>
        <p:spPr>
          <a:xfrm>
            <a:off x="11061700" y="6400800"/>
            <a:ext cx="52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42900"/>
            <a:ext cx="844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COURSE WORKSHOP / 系统总览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609600" y="9652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先看清系统边界，再谈性能</a:t>
            </a:r>
            <a:endParaRPr lang="en-US" sz="3000" dirty="0"/>
          </a:p>
        </p:txBody>
      </p:sp>
      <p:sp>
        <p:nvSpPr>
          <p:cNvPr id="4" name="exhibitTag"/>
          <p:cNvSpPr/>
          <p:nvPr/>
        </p:nvSpPr>
        <p:spPr>
          <a:xfrm>
            <a:off x="9575800" y="584200"/>
            <a:ext cx="2006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</a:t>
            </a:r>
            <a:endParaRPr lang="en-US" sz="900" dirty="0"/>
          </a:p>
        </p:txBody>
      </p:sp>
      <p:sp>
        <p:nvSpPr>
          <p:cNvPr id="5" name="colLabel"/>
          <p:cNvSpPr/>
          <p:nvPr/>
        </p:nvSpPr>
        <p:spPr>
          <a:xfrm>
            <a:off x="609600" y="2082800"/>
            <a:ext cx="4419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核心判断</a:t>
            </a:r>
            <a:endParaRPr lang="en-US" sz="1300" dirty="0"/>
          </a:p>
        </p:txBody>
      </p:sp>
      <p:sp>
        <p:nvSpPr>
          <p:cNvPr id="6" name="thesis"/>
          <p:cNvSpPr/>
          <p:nvPr/>
        </p:nvSpPr>
        <p:spPr>
          <a:xfrm>
            <a:off x="609600" y="2628900"/>
            <a:ext cx="4216400" cy="224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一个模型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不够用，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要会退让。</a:t>
            </a:r>
            <a:endParaRPr lang="en-US" sz="3000" dirty="0"/>
          </a:p>
        </p:txBody>
      </p:sp>
      <p:sp>
        <p:nvSpPr>
          <p:cNvPr id="7" name="thesisFoot"/>
          <p:cNvSpPr/>
          <p:nvPr/>
        </p:nvSpPr>
        <p:spPr>
          <a:xfrm>
            <a:off x="609600" y="5334000"/>
            <a:ext cx="41910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单页只讲一个判断：可用性来自退让机制。</a:t>
            </a:r>
            <a:endParaRPr lang="en-US" sz="1700" dirty="0"/>
          </a:p>
        </p:txBody>
      </p:sp>
      <p:sp>
        <p:nvSpPr>
          <p:cNvPr id="8" name="rule1"/>
          <p:cNvSpPr/>
          <p:nvPr/>
        </p:nvSpPr>
        <p:spPr>
          <a:xfrm>
            <a:off x="609600" y="5080000"/>
            <a:ext cx="41910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9" name="rail"/>
          <p:cNvSpPr/>
          <p:nvPr/>
        </p:nvSpPr>
        <p:spPr>
          <a:xfrm>
            <a:off x="5283200" y="2082800"/>
            <a:ext cx="12700" cy="38100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10" name="n1"/>
          <p:cNvSpPr/>
          <p:nvPr/>
        </p:nvSpPr>
        <p:spPr>
          <a:xfrm>
            <a:off x="5600700" y="2120900"/>
            <a:ext cx="635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8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h1"/>
          <p:cNvSpPr/>
          <p:nvPr/>
        </p:nvSpPr>
        <p:spPr>
          <a:xfrm>
            <a:off x="6527800" y="2159000"/>
            <a:ext cx="3162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端到端主驾</a:t>
            </a:r>
            <a:endParaRPr lang="en-US" sz="2300" dirty="0"/>
          </a:p>
        </p:txBody>
      </p:sp>
      <p:sp>
        <p:nvSpPr>
          <p:cNvPr id="12" name="t1"/>
          <p:cNvSpPr/>
          <p:nvPr/>
        </p:nvSpPr>
        <p:spPr>
          <a:xfrm>
            <a:off x="9906000" y="22352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A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e2e 档</a:t>
            </a:r>
            <a:endParaRPr lang="en-US" sz="1000" dirty="0"/>
          </a:p>
        </p:txBody>
      </p:sp>
      <p:sp>
        <p:nvSpPr>
          <p:cNvPr id="13" name="d1"/>
          <p:cNvSpPr/>
          <p:nvPr/>
        </p:nvSpPr>
        <p:spPr>
          <a:xfrm>
            <a:off x="6527800" y="2679700"/>
            <a:ext cx="50546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m9_mono 单目模型直接从画面出操控量，健康度 0.65 以上时在岗。</a:t>
            </a:r>
            <a:endParaRPr lang="en-US" sz="1800" dirty="0"/>
          </a:p>
        </p:txBody>
      </p:sp>
      <p:sp>
        <p:nvSpPr>
          <p:cNvPr id="14" name="n2"/>
          <p:cNvSpPr/>
          <p:nvPr/>
        </p:nvSpPr>
        <p:spPr>
          <a:xfrm>
            <a:off x="5600700" y="3314700"/>
            <a:ext cx="635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8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h2"/>
          <p:cNvSpPr/>
          <p:nvPr/>
        </p:nvSpPr>
        <p:spPr>
          <a:xfrm>
            <a:off x="6527800" y="3352800"/>
            <a:ext cx="3162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YOLO 接管</a:t>
            </a:r>
            <a:endParaRPr lang="en-US" sz="2300" dirty="0"/>
          </a:p>
        </p:txBody>
      </p:sp>
      <p:sp>
        <p:nvSpPr>
          <p:cNvPr id="16" name="t2"/>
          <p:cNvSpPr/>
          <p:nvPr/>
        </p:nvSpPr>
        <p:spPr>
          <a:xfrm>
            <a:off x="9906000" y="34290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A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yolo 档</a:t>
            </a:r>
            <a:endParaRPr lang="en-US" sz="1000" dirty="0"/>
          </a:p>
        </p:txBody>
      </p:sp>
      <p:sp>
        <p:nvSpPr>
          <p:cNvPr id="17" name="d2"/>
          <p:cNvSpPr/>
          <p:nvPr/>
        </p:nvSpPr>
        <p:spPr>
          <a:xfrm>
            <a:off x="6527800" y="3873500"/>
            <a:ext cx="50546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端到端下线时，检测头出框，规则表把框翻译成转向与制动。</a:t>
            </a:r>
            <a:endParaRPr lang="en-US" sz="1800" dirty="0"/>
          </a:p>
        </p:txBody>
      </p:sp>
      <p:sp>
        <p:nvSpPr>
          <p:cNvPr id="18" name="n3"/>
          <p:cNvSpPr/>
          <p:nvPr/>
        </p:nvSpPr>
        <p:spPr>
          <a:xfrm>
            <a:off x="5600700" y="4508500"/>
            <a:ext cx="635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8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h3"/>
          <p:cNvSpPr/>
          <p:nvPr/>
        </p:nvSpPr>
        <p:spPr>
          <a:xfrm>
            <a:off x="6527800" y="4546600"/>
            <a:ext cx="3162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脱困与规则</a:t>
            </a:r>
            <a:endParaRPr lang="en-US" sz="2300" dirty="0"/>
          </a:p>
        </p:txBody>
      </p:sp>
      <p:sp>
        <p:nvSpPr>
          <p:cNvPr id="20" name="t3"/>
          <p:cNvSpPr/>
          <p:nvPr/>
        </p:nvSpPr>
        <p:spPr>
          <a:xfrm>
            <a:off x="9906000" y="46228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 / rule</a:t>
            </a:r>
            <a:endParaRPr lang="en-US" sz="1000" dirty="0"/>
          </a:p>
        </p:txBody>
      </p:sp>
      <p:sp>
        <p:nvSpPr>
          <p:cNvPr id="21" name="d3"/>
          <p:cNvSpPr/>
          <p:nvPr/>
        </p:nvSpPr>
        <p:spPr>
          <a:xfrm>
            <a:off x="6527800" y="5067300"/>
            <a:ext cx="50546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低于 3 km/h 持续 3 秒进脱困；恢复阈值 0.80，留 0.15 滞回缓冲。</a:t>
            </a:r>
            <a:endParaRPr lang="en-US" sz="1800" dirty="0"/>
          </a:p>
        </p:txBody>
      </p:sp>
      <p:sp>
        <p:nvSpPr>
          <p:cNvPr id="22" name="sep475"/>
          <p:cNvSpPr/>
          <p:nvPr/>
        </p:nvSpPr>
        <p:spPr>
          <a:xfrm>
            <a:off x="609600" y="6032500"/>
            <a:ext cx="109728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23" name="readout"/>
          <p:cNvSpPr/>
          <p:nvPr/>
        </p:nvSpPr>
        <p:spPr>
          <a:xfrm>
            <a:off x="609600" y="6121400"/>
            <a:ext cx="1097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四档降级由 DegradeStateMachine 驱动，阈值全部可在源码中逐条核对。</a:t>
            </a:r>
            <a:endParaRPr lang="en-US" sz="1300" dirty="0"/>
          </a:p>
        </p:txBody>
      </p:sp>
      <p:sp>
        <p:nvSpPr>
          <p:cNvPr id="24" name="footer"/>
          <p:cNvSpPr/>
          <p:nvPr/>
        </p:nvSpPr>
        <p:spPr>
          <a:xfrm>
            <a:off x="609600" y="6413500"/>
            <a:ext cx="994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C8C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来源：《05-control-safety》与《01-architecture》</a:t>
            </a:r>
            <a:endParaRPr lang="en-US" sz="900" dirty="0"/>
          </a:p>
        </p:txBody>
      </p:sp>
      <p:sp>
        <p:nvSpPr>
          <p:cNvPr id="25" name="pageno"/>
          <p:cNvSpPr/>
          <p:nvPr/>
        </p:nvSpPr>
        <p:spPr>
          <a:xfrm>
            <a:off x="11061700" y="6400800"/>
            <a:ext cx="52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42900"/>
            <a:ext cx="844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COURSE WORKSHOP / 概念结构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609600" y="9652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六层职责串成一条闭环</a:t>
            </a:r>
            <a:endParaRPr lang="en-US" sz="3000" dirty="0"/>
          </a:p>
        </p:txBody>
      </p:sp>
      <p:sp>
        <p:nvSpPr>
          <p:cNvPr id="4" name="exhibitTag"/>
          <p:cNvSpPr/>
          <p:nvPr/>
        </p:nvSpPr>
        <p:spPr>
          <a:xfrm>
            <a:off x="9575800" y="584200"/>
            <a:ext cx="2006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</a:t>
            </a:r>
            <a:endParaRPr lang="en-US" sz="900" dirty="0"/>
          </a:p>
        </p:txBody>
      </p:sp>
      <p:sp>
        <p:nvSpPr>
          <p:cNvPr id="5" name="mapLabel"/>
          <p:cNvSpPr/>
          <p:nvPr/>
        </p:nvSpPr>
        <p:spPr>
          <a:xfrm>
            <a:off x="609600" y="1930400"/>
            <a:ext cx="1079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HYPOTHESIS MAP / 每一层都要有可核对的产物</a:t>
            </a:r>
            <a:endParaRPr lang="en-US" sz="1300" dirty="0"/>
          </a:p>
        </p:txBody>
      </p:sp>
      <p:sp>
        <p:nvSpPr>
          <p:cNvPr id="6" name="root"/>
          <p:cNvSpPr/>
          <p:nvPr/>
        </p:nvSpPr>
        <p:spPr>
          <a:xfrm>
            <a:off x="609600" y="3454400"/>
            <a:ext cx="2781300" cy="1333500"/>
          </a:xfrm>
          <a:prstGeom prst="rect">
            <a:avLst/>
          </a:prstGeom>
          <a:solidFill>
            <a:srgbClr val="447A62"/>
          </a:solidFill>
          <a:ln w="12700">
            <a:solidFill>
              <a:srgbClr val="447A62"/>
            </a:solidFill>
            <a:prstDash val="solid"/>
          </a:ln>
        </p:spPr>
      </p:sp>
      <p:sp>
        <p:nvSpPr>
          <p:cNvPr id="7" name="rootText"/>
          <p:cNvSpPr/>
          <p:nvPr/>
        </p:nvSpPr>
        <p:spPr>
          <a:xfrm>
            <a:off x="762000" y="3619500"/>
            <a:ext cx="24765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7F4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捕获 → 推理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7F4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决策 → 注入</a:t>
            </a:r>
            <a:endParaRPr lang="en-US" sz="1800" dirty="0"/>
          </a:p>
        </p:txBody>
      </p:sp>
      <p:sp>
        <p:nvSpPr>
          <p:cNvPr id="8" name="b1"/>
          <p:cNvSpPr/>
          <p:nvPr/>
        </p:nvSpPr>
        <p:spPr>
          <a:xfrm>
            <a:off x="4445000" y="2336800"/>
            <a:ext cx="2159000" cy="736600"/>
          </a:xfrm>
          <a:prstGeom prst="rect">
            <a:avLst/>
          </a:prstGeom>
          <a:solidFill>
            <a:srgbClr val="E5EBDD"/>
          </a:solidFill>
          <a:ln w="12700">
            <a:solidFill>
              <a:srgbClr val="E5EBDD"/>
            </a:solidFill>
            <a:prstDash val="solid"/>
          </a:ln>
        </p:spPr>
      </p:sp>
      <p:sp>
        <p:nvSpPr>
          <p:cNvPr id="9" name="b1t"/>
          <p:cNvSpPr/>
          <p:nvPr/>
        </p:nvSpPr>
        <p:spPr>
          <a:xfrm>
            <a:off x="4597400" y="2501900"/>
            <a:ext cx="1854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看得见</a:t>
            </a:r>
            <a:endParaRPr lang="en-US" sz="1800" dirty="0"/>
          </a:p>
        </p:txBody>
      </p:sp>
      <p:sp>
        <p:nvSpPr>
          <p:cNvPr id="10" name="b1a"/>
          <p:cNvSpPr/>
          <p:nvPr/>
        </p:nvSpPr>
        <p:spPr>
          <a:xfrm>
            <a:off x="7721600" y="2247900"/>
            <a:ext cx="37973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ScreenCaptureKit 30fps</a:t>
            </a:r>
            <a:endParaRPr lang="en-US" sz="1800" dirty="0"/>
          </a:p>
        </p:txBody>
      </p:sp>
      <p:sp>
        <p:nvSpPr>
          <p:cNvPr id="11" name="b1b"/>
          <p:cNvSpPr/>
          <p:nvPr/>
        </p:nvSpPr>
        <p:spPr>
          <a:xfrm>
            <a:off x="7721600" y="2781300"/>
            <a:ext cx="37973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四路回调：UI / 检测 / 显示</a:t>
            </a:r>
            <a:endParaRPr lang="en-US" sz="1800" dirty="0"/>
          </a:p>
        </p:txBody>
      </p:sp>
      <p:sp>
        <p:nvSpPr>
          <p:cNvPr id="12" name="b2"/>
          <p:cNvSpPr/>
          <p:nvPr/>
        </p:nvSpPr>
        <p:spPr>
          <a:xfrm>
            <a:off x="4445000" y="3581400"/>
            <a:ext cx="2159000" cy="736600"/>
          </a:xfrm>
          <a:prstGeom prst="rect">
            <a:avLst/>
          </a:prstGeom>
          <a:solidFill>
            <a:srgbClr val="E5EBDD"/>
          </a:solidFill>
          <a:ln w="12700">
            <a:solidFill>
              <a:srgbClr val="E5EBDD"/>
            </a:solidFill>
            <a:prstDash val="solid"/>
          </a:ln>
        </p:spPr>
      </p:sp>
      <p:sp>
        <p:nvSpPr>
          <p:cNvPr id="13" name="b2t"/>
          <p:cNvSpPr/>
          <p:nvPr/>
        </p:nvSpPr>
        <p:spPr>
          <a:xfrm>
            <a:off x="4597400" y="3746500"/>
            <a:ext cx="1854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想得明白</a:t>
            </a:r>
            <a:endParaRPr lang="en-US" sz="1800" dirty="0"/>
          </a:p>
        </p:txBody>
      </p:sp>
      <p:sp>
        <p:nvSpPr>
          <p:cNvPr id="14" name="b2a"/>
          <p:cNvSpPr/>
          <p:nvPr/>
        </p:nvSpPr>
        <p:spPr>
          <a:xfrm>
            <a:off x="7721600" y="3492500"/>
            <a:ext cx="37973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m9_mono 与 YOLOPX 双路</a:t>
            </a:r>
            <a:endParaRPr lang="en-US" sz="1800" dirty="0"/>
          </a:p>
        </p:txBody>
      </p:sp>
      <p:sp>
        <p:nvSpPr>
          <p:cNvPr id="15" name="b2b"/>
          <p:cNvSpPr/>
          <p:nvPr/>
        </p:nvSpPr>
        <p:spPr>
          <a:xfrm>
            <a:off x="7721600" y="4025900"/>
            <a:ext cx="37973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光流把 15Hz 补到 30Hz</a:t>
            </a:r>
            <a:endParaRPr lang="en-US" sz="1800" dirty="0"/>
          </a:p>
        </p:txBody>
      </p:sp>
      <p:sp>
        <p:nvSpPr>
          <p:cNvPr id="16" name="b3"/>
          <p:cNvSpPr/>
          <p:nvPr/>
        </p:nvSpPr>
        <p:spPr>
          <a:xfrm>
            <a:off x="4445000" y="4826000"/>
            <a:ext cx="2159000" cy="736600"/>
          </a:xfrm>
          <a:prstGeom prst="rect">
            <a:avLst/>
          </a:prstGeom>
          <a:solidFill>
            <a:srgbClr val="E5EBDD"/>
          </a:solidFill>
          <a:ln w="12700">
            <a:solidFill>
              <a:srgbClr val="E5EBDD"/>
            </a:solidFill>
            <a:prstDash val="solid"/>
          </a:ln>
        </p:spPr>
      </p:sp>
      <p:sp>
        <p:nvSpPr>
          <p:cNvPr id="17" name="b3t"/>
          <p:cNvSpPr/>
          <p:nvPr/>
        </p:nvSpPr>
        <p:spPr>
          <a:xfrm>
            <a:off x="4597400" y="4991100"/>
            <a:ext cx="1854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动得起来</a:t>
            </a:r>
            <a:endParaRPr lang="en-US" sz="1800" dirty="0"/>
          </a:p>
        </p:txBody>
      </p:sp>
      <p:sp>
        <p:nvSpPr>
          <p:cNvPr id="18" name="b3a"/>
          <p:cNvSpPr/>
          <p:nvPr/>
        </p:nvSpPr>
        <p:spPr>
          <a:xfrm>
            <a:off x="7721600" y="4737100"/>
            <a:ext cx="37973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CGEvent 注入 HID 层按键</a:t>
            </a:r>
            <a:endParaRPr lang="en-US" sz="1800" dirty="0"/>
          </a:p>
        </p:txBody>
      </p:sp>
      <p:sp>
        <p:nvSpPr>
          <p:cNvPr id="19" name="b3b"/>
          <p:cNvSpPr/>
          <p:nvPr/>
        </p:nvSpPr>
        <p:spPr>
          <a:xfrm>
            <a:off x="7721600" y="5270500"/>
            <a:ext cx="37973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规则表：直行 / 减速 / 急刹</a:t>
            </a:r>
            <a:endParaRPr lang="en-US" sz="1800" dirty="0"/>
          </a:p>
        </p:txBody>
      </p:sp>
      <p:sp>
        <p:nvSpPr>
          <p:cNvPr id="20" name="sep462"/>
          <p:cNvSpPr/>
          <p:nvPr/>
        </p:nvSpPr>
        <p:spPr>
          <a:xfrm>
            <a:off x="609600" y="5867400"/>
            <a:ext cx="109728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21" name="readout"/>
          <p:cNvSpPr/>
          <p:nvPr/>
        </p:nvSpPr>
        <p:spPr>
          <a:xfrm>
            <a:off x="609600" y="6121400"/>
            <a:ext cx="1097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命门在写入路径：只有 hidSystemState 事件源加 cghidEventTap，游戏才读得到。</a:t>
            </a:r>
            <a:endParaRPr lang="en-US" sz="1300" dirty="0"/>
          </a:p>
        </p:txBody>
      </p:sp>
      <p:sp>
        <p:nvSpPr>
          <p:cNvPr id="22" name="footer"/>
          <p:cNvSpPr/>
          <p:nvPr/>
        </p:nvSpPr>
        <p:spPr>
          <a:xfrm>
            <a:off x="609600" y="6413500"/>
            <a:ext cx="994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C8C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来源：《代码-00 源码树与架构总览》职责分层口径</a:t>
            </a:r>
            <a:endParaRPr lang="en-US" sz="900" dirty="0"/>
          </a:p>
        </p:txBody>
      </p:sp>
      <p:sp>
        <p:nvSpPr>
          <p:cNvPr id="23" name="pageno"/>
          <p:cNvSpPr/>
          <p:nvPr/>
        </p:nvSpPr>
        <p:spPr>
          <a:xfrm>
            <a:off x="11061700" y="6400800"/>
            <a:ext cx="52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42900"/>
            <a:ext cx="844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COURSE WORKSHOP / 实例讲解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609600" y="9652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 33 毫秒里做了什么</a:t>
            </a:r>
            <a:endParaRPr lang="en-US" sz="3000" dirty="0"/>
          </a:p>
        </p:txBody>
      </p:sp>
      <p:sp>
        <p:nvSpPr>
          <p:cNvPr id="4" name="exhibitTag"/>
          <p:cNvSpPr/>
          <p:nvPr/>
        </p:nvSpPr>
        <p:spPr>
          <a:xfrm>
            <a:off x="9575800" y="584200"/>
            <a:ext cx="2006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</a:t>
            </a:r>
            <a:endParaRPr lang="en-US" sz="900" dirty="0"/>
          </a:p>
        </p:txBody>
      </p:sp>
      <p:sp>
        <p:nvSpPr>
          <p:cNvPr id="5" name="frame1"/>
          <p:cNvSpPr/>
          <p:nvPr/>
        </p:nvSpPr>
        <p:spPr>
          <a:xfrm>
            <a:off x="609600" y="2171700"/>
            <a:ext cx="3429000" cy="1905000"/>
          </a:xfrm>
          <a:prstGeom prst="rect">
            <a:avLst/>
          </a:prstGeom>
          <a:solidFill>
            <a:srgbClr val="E5EBDD"/>
          </a:solidFill>
          <a:ln w="12700">
            <a:solidFill>
              <a:srgbClr val="E5EBDD"/>
            </a:solidFill>
            <a:prstDash val="solid"/>
          </a:ln>
        </p:spPr>
      </p:sp>
      <p:sp>
        <p:nvSpPr>
          <p:cNvPr id="6" name="f1bar"/>
          <p:cNvSpPr/>
          <p:nvPr/>
        </p:nvSpPr>
        <p:spPr>
          <a:xfrm>
            <a:off x="1066800" y="3213100"/>
            <a:ext cx="1117600" cy="393700"/>
          </a:xfrm>
          <a:prstGeom prst="rect">
            <a:avLst/>
          </a:prstGeom>
          <a:solidFill>
            <a:srgbClr val="181915"/>
          </a:solidFill>
          <a:ln w="12700">
            <a:solidFill>
              <a:srgbClr val="181915"/>
            </a:solidFill>
            <a:prstDash val="solid"/>
          </a:ln>
        </p:spPr>
      </p:sp>
      <p:sp>
        <p:nvSpPr>
          <p:cNvPr id="7" name="frame2"/>
          <p:cNvSpPr/>
          <p:nvPr/>
        </p:nvSpPr>
        <p:spPr>
          <a:xfrm>
            <a:off x="4343400" y="2171700"/>
            <a:ext cx="3429000" cy="1905000"/>
          </a:xfrm>
          <a:prstGeom prst="rect">
            <a:avLst/>
          </a:prstGeom>
          <a:solidFill>
            <a:srgbClr val="447A62"/>
          </a:solidFill>
          <a:ln w="12700">
            <a:solidFill>
              <a:srgbClr val="447A62"/>
            </a:solidFill>
            <a:prstDash val="solid"/>
          </a:ln>
        </p:spPr>
      </p:sp>
      <p:sp>
        <p:nvSpPr>
          <p:cNvPr id="8" name="f2circle"/>
          <p:cNvSpPr/>
          <p:nvPr/>
        </p:nvSpPr>
        <p:spPr>
          <a:xfrm>
            <a:off x="5549900" y="2540000"/>
            <a:ext cx="990600" cy="990600"/>
          </a:xfrm>
          <a:prstGeom prst="ellipse">
            <a:avLst/>
          </a:prstGeom>
          <a:solidFill>
            <a:srgbClr val="F8F6EE"/>
          </a:solidFill>
          <a:ln w="12700">
            <a:solidFill>
              <a:srgbClr val="F8F6EE"/>
            </a:solidFill>
            <a:prstDash val="solid"/>
          </a:ln>
        </p:spPr>
      </p:sp>
      <p:sp>
        <p:nvSpPr>
          <p:cNvPr id="9" name="f2arrow"/>
          <p:cNvSpPr/>
          <p:nvPr/>
        </p:nvSpPr>
        <p:spPr>
          <a:xfrm>
            <a:off x="5753100" y="2717800"/>
            <a:ext cx="6604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0" name="frame3"/>
          <p:cNvSpPr/>
          <p:nvPr/>
        </p:nvSpPr>
        <p:spPr>
          <a:xfrm>
            <a:off x="8077200" y="2171700"/>
            <a:ext cx="3429000" cy="1905000"/>
          </a:xfrm>
          <a:prstGeom prst="rect">
            <a:avLst/>
          </a:prstGeom>
          <a:solidFill>
            <a:srgbClr val="E5EBDD"/>
          </a:solidFill>
          <a:ln w="12700">
            <a:solidFill>
              <a:srgbClr val="E5EBDD"/>
            </a:solidFill>
            <a:prstDash val="solid"/>
          </a:ln>
        </p:spPr>
      </p:sp>
      <p:sp>
        <p:nvSpPr>
          <p:cNvPr id="11" name="f3d1"/>
          <p:cNvSpPr/>
          <p:nvPr/>
        </p:nvSpPr>
        <p:spPr>
          <a:xfrm>
            <a:off x="8534400" y="2501900"/>
            <a:ext cx="152400" cy="152400"/>
          </a:xfrm>
          <a:prstGeom prst="ellipse">
            <a:avLst/>
          </a:prstGeom>
          <a:solidFill>
            <a:srgbClr val="181915"/>
          </a:solidFill>
          <a:ln w="12700">
            <a:solidFill>
              <a:srgbClr val="181915"/>
            </a:solidFill>
            <a:prstDash val="solid"/>
          </a:ln>
        </p:spPr>
      </p:sp>
      <p:sp>
        <p:nvSpPr>
          <p:cNvPr id="12" name="f3d2"/>
          <p:cNvSpPr/>
          <p:nvPr/>
        </p:nvSpPr>
        <p:spPr>
          <a:xfrm>
            <a:off x="8534400" y="2971800"/>
            <a:ext cx="152400" cy="152400"/>
          </a:xfrm>
          <a:prstGeom prst="ellipse">
            <a:avLst/>
          </a:prstGeom>
          <a:solidFill>
            <a:srgbClr val="181915"/>
          </a:solidFill>
          <a:ln w="12700">
            <a:solidFill>
              <a:srgbClr val="181915"/>
            </a:solidFill>
            <a:prstDash val="solid"/>
          </a:ln>
        </p:spPr>
      </p:sp>
      <p:sp>
        <p:nvSpPr>
          <p:cNvPr id="13" name="f3d3"/>
          <p:cNvSpPr/>
          <p:nvPr/>
        </p:nvSpPr>
        <p:spPr>
          <a:xfrm>
            <a:off x="8534400" y="3441700"/>
            <a:ext cx="152400" cy="152400"/>
          </a:xfrm>
          <a:prstGeom prst="ellipse">
            <a:avLst/>
          </a:prstGeom>
          <a:solidFill>
            <a:srgbClr val="181915"/>
          </a:solidFill>
          <a:ln w="12700">
            <a:solidFill>
              <a:srgbClr val="181915"/>
            </a:solidFill>
            <a:prstDash val="solid"/>
          </a:ln>
        </p:spPr>
      </p:sp>
      <p:sp>
        <p:nvSpPr>
          <p:cNvPr id="14" name="s1"/>
          <p:cNvSpPr/>
          <p:nvPr/>
        </p:nvSpPr>
        <p:spPr>
          <a:xfrm>
            <a:off x="609600" y="4279900"/>
            <a:ext cx="330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拿到画面</a:t>
            </a:r>
            <a:endParaRPr lang="en-US" sz="1300" dirty="0"/>
          </a:p>
        </p:txBody>
      </p:sp>
      <p:sp>
        <p:nvSpPr>
          <p:cNvPr id="15" name="s2"/>
          <p:cNvSpPr/>
          <p:nvPr/>
        </p:nvSpPr>
        <p:spPr>
          <a:xfrm>
            <a:off x="4343400" y="4279900"/>
            <a:ext cx="330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做出判断</a:t>
            </a:r>
            <a:endParaRPr lang="en-US" sz="1300" dirty="0"/>
          </a:p>
        </p:txBody>
      </p:sp>
      <p:sp>
        <p:nvSpPr>
          <p:cNvPr id="16" name="s3"/>
          <p:cNvSpPr/>
          <p:nvPr/>
        </p:nvSpPr>
        <p:spPr>
          <a:xfrm>
            <a:off x="8077200" y="4279900"/>
            <a:ext cx="330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按下去</a:t>
            </a:r>
            <a:endParaRPr lang="en-US" sz="1300" dirty="0"/>
          </a:p>
        </p:txBody>
      </p:sp>
      <p:sp>
        <p:nvSpPr>
          <p:cNvPr id="17" name="c1"/>
          <p:cNvSpPr/>
          <p:nvPr/>
        </p:nvSpPr>
        <p:spPr>
          <a:xfrm>
            <a:off x="609600" y="4775200"/>
            <a:ext cx="3340100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30Hz 捕获</a:t>
            </a:r>
            <a:endParaRPr lang="en-US" sz="2600" dirty="0"/>
          </a:p>
        </p:txBody>
      </p:sp>
      <p:sp>
        <p:nvSpPr>
          <p:cNvPr id="18" name="c2"/>
          <p:cNvSpPr/>
          <p:nvPr/>
        </p:nvSpPr>
        <p:spPr>
          <a:xfrm>
            <a:off x="4343400" y="4775200"/>
            <a:ext cx="3340100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双路推理</a:t>
            </a:r>
            <a:endParaRPr lang="en-US" sz="2600" dirty="0"/>
          </a:p>
        </p:txBody>
      </p:sp>
      <p:sp>
        <p:nvSpPr>
          <p:cNvPr id="19" name="c3"/>
          <p:cNvSpPr/>
          <p:nvPr/>
        </p:nvSpPr>
        <p:spPr>
          <a:xfrm>
            <a:off x="8077200" y="4775200"/>
            <a:ext cx="3340100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HID 注入</a:t>
            </a:r>
            <a:endParaRPr lang="en-US" sz="2600" dirty="0"/>
          </a:p>
        </p:txBody>
      </p:sp>
      <p:sp>
        <p:nvSpPr>
          <p:cNvPr id="20" name="sep462"/>
          <p:cNvSpPr/>
          <p:nvPr/>
        </p:nvSpPr>
        <p:spPr>
          <a:xfrm>
            <a:off x="609600" y="5867400"/>
            <a:ext cx="109728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21" name="readout"/>
          <p:cNvSpPr/>
          <p:nvPr/>
        </p:nvSpPr>
        <p:spPr>
          <a:xfrm>
            <a:off x="609600" y="6121400"/>
            <a:ext cx="1097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FrameHost 用 generation 丢弃过期写回：决策只吃最新一帧，不吃排队帧。</a:t>
            </a:r>
            <a:endParaRPr lang="en-US" sz="1300" dirty="0"/>
          </a:p>
        </p:txBody>
      </p:sp>
      <p:sp>
        <p:nvSpPr>
          <p:cNvPr id="22" name="footer"/>
          <p:cNvSpPr/>
          <p:nvPr/>
        </p:nvSpPr>
        <p:spPr>
          <a:xfrm>
            <a:off x="609600" y="6413500"/>
            <a:ext cx="994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C8C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来源：《04-vision-inference》与《06-EngineMain 引擎进程主循环》</a:t>
            </a:r>
            <a:endParaRPr lang="en-US" sz="900" dirty="0"/>
          </a:p>
        </p:txBody>
      </p:sp>
      <p:sp>
        <p:nvSpPr>
          <p:cNvPr id="23" name="pageno"/>
          <p:cNvSpPr/>
          <p:nvPr/>
        </p:nvSpPr>
        <p:spPr>
          <a:xfrm>
            <a:off x="11061700" y="6400800"/>
            <a:ext cx="52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42900"/>
            <a:ext cx="844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COURSE WORKSHOP / 限时练习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609600" y="9652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出问题的时候退到哪一档</a:t>
            </a:r>
            <a:endParaRPr lang="en-US" sz="3000" dirty="0"/>
          </a:p>
        </p:txBody>
      </p:sp>
      <p:sp>
        <p:nvSpPr>
          <p:cNvPr id="4" name="exhibitTag"/>
          <p:cNvSpPr/>
          <p:nvPr/>
        </p:nvSpPr>
        <p:spPr>
          <a:xfrm>
            <a:off x="9575800" y="584200"/>
            <a:ext cx="2006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</a:t>
            </a:r>
            <a:endParaRPr lang="en-US" sz="900" dirty="0"/>
          </a:p>
        </p:txBody>
      </p:sp>
      <p:sp>
        <p:nvSpPr>
          <p:cNvPr id="5" name="hi"/>
          <p:cNvSpPr/>
          <p:nvPr/>
        </p:nvSpPr>
        <p:spPr>
          <a:xfrm>
            <a:off x="8712200" y="2095500"/>
            <a:ext cx="2870200" cy="3581400"/>
          </a:xfrm>
          <a:prstGeom prst="rect">
            <a:avLst/>
          </a:prstGeom>
          <a:solidFill>
            <a:srgbClr val="E5EBDD"/>
          </a:solidFill>
          <a:ln w="12700">
            <a:solidFill>
              <a:srgbClr val="E5EBDD"/>
            </a:solidFill>
            <a:prstDash val="solid"/>
          </a:ln>
        </p:spPr>
      </p:sp>
      <p:sp>
        <p:nvSpPr>
          <p:cNvPr id="6" name="c0"/>
          <p:cNvSpPr/>
          <p:nvPr/>
        </p:nvSpPr>
        <p:spPr>
          <a:xfrm>
            <a:off x="609600" y="2222500"/>
            <a:ext cx="256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现象与触发条件</a:t>
            </a:r>
            <a:endParaRPr lang="en-US" sz="1300" dirty="0"/>
          </a:p>
        </p:txBody>
      </p:sp>
      <p:sp>
        <p:nvSpPr>
          <p:cNvPr id="7" name="c1h"/>
          <p:cNvSpPr/>
          <p:nvPr/>
        </p:nvSpPr>
        <p:spPr>
          <a:xfrm>
            <a:off x="3429000" y="2222500"/>
            <a:ext cx="243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第一反应</a:t>
            </a:r>
            <a:endParaRPr lang="en-US" sz="1300" dirty="0"/>
          </a:p>
        </p:txBody>
      </p:sp>
      <p:sp>
        <p:nvSpPr>
          <p:cNvPr id="8" name="c2h"/>
          <p:cNvSpPr/>
          <p:nvPr/>
        </p:nvSpPr>
        <p:spPr>
          <a:xfrm>
            <a:off x="6134100" y="2222500"/>
            <a:ext cx="2451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第二反应</a:t>
            </a:r>
            <a:endParaRPr lang="en-US" sz="1300" dirty="0"/>
          </a:p>
        </p:txBody>
      </p:sp>
      <p:sp>
        <p:nvSpPr>
          <p:cNvPr id="9" name="c3h"/>
          <p:cNvSpPr/>
          <p:nvPr/>
        </p:nvSpPr>
        <p:spPr>
          <a:xfrm>
            <a:off x="8864600" y="2222500"/>
            <a:ext cx="271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最后兜底</a:t>
            </a:r>
            <a:endParaRPr lang="en-US" sz="1300" dirty="0"/>
          </a:p>
        </p:txBody>
      </p:sp>
      <p:sp>
        <p:nvSpPr>
          <p:cNvPr id="10" name="s230"/>
          <p:cNvSpPr/>
          <p:nvPr/>
        </p:nvSpPr>
        <p:spPr>
          <a:xfrm>
            <a:off x="609600" y="2921000"/>
            <a:ext cx="109728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11" name="r1c0"/>
          <p:cNvSpPr/>
          <p:nvPr/>
        </p:nvSpPr>
        <p:spPr>
          <a:xfrm>
            <a:off x="609600" y="3073400"/>
            <a:ext cx="24638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画面置信度低于 0.65</a:t>
            </a:r>
            <a:endParaRPr lang="en-US" sz="1800" dirty="0"/>
          </a:p>
        </p:txBody>
      </p:sp>
      <p:sp>
        <p:nvSpPr>
          <p:cNvPr id="12" name="r1c1"/>
          <p:cNvSpPr/>
          <p:nvPr/>
        </p:nvSpPr>
        <p:spPr>
          <a:xfrm>
            <a:off x="3429000" y="3073400"/>
            <a:ext cx="23368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降到 YOLO 接管</a:t>
            </a:r>
            <a:endParaRPr lang="en-US" sz="1800" dirty="0"/>
          </a:p>
        </p:txBody>
      </p:sp>
      <p:sp>
        <p:nvSpPr>
          <p:cNvPr id="13" name="r1c2"/>
          <p:cNvSpPr/>
          <p:nvPr/>
        </p:nvSpPr>
        <p:spPr>
          <a:xfrm>
            <a:off x="6134100" y="3073400"/>
            <a:ext cx="2349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再降到纯规则</a:t>
            </a:r>
            <a:endParaRPr lang="en-US" sz="1800" dirty="0"/>
          </a:p>
        </p:txBody>
      </p:sp>
      <p:sp>
        <p:nvSpPr>
          <p:cNvPr id="14" name="r1c3"/>
          <p:cNvSpPr/>
          <p:nvPr/>
        </p:nvSpPr>
        <p:spPr>
          <a:xfrm>
            <a:off x="8864600" y="3073400"/>
            <a:ext cx="26162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回升到 0.80 才恢复</a:t>
            </a:r>
            <a:endParaRPr lang="en-US" sz="1800" dirty="0"/>
          </a:p>
        </p:txBody>
      </p:sp>
      <p:sp>
        <p:nvSpPr>
          <p:cNvPr id="15" name="s299"/>
          <p:cNvSpPr/>
          <p:nvPr/>
        </p:nvSpPr>
        <p:spPr>
          <a:xfrm>
            <a:off x="609600" y="3797300"/>
            <a:ext cx="109728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16" name="r2c0"/>
          <p:cNvSpPr/>
          <p:nvPr/>
        </p:nvSpPr>
        <p:spPr>
          <a:xfrm>
            <a:off x="609600" y="3949700"/>
            <a:ext cx="24638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速度读数丢失</a:t>
            </a:r>
            <a:endParaRPr lang="en-US" sz="1800" dirty="0"/>
          </a:p>
        </p:txBody>
      </p:sp>
      <p:sp>
        <p:nvSpPr>
          <p:cNvPr id="17" name="r2c1"/>
          <p:cNvSpPr/>
          <p:nvPr/>
        </p:nvSpPr>
        <p:spPr>
          <a:xfrm>
            <a:off x="3429000" y="3949700"/>
            <a:ext cx="23368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卡住计时冻结</a:t>
            </a:r>
            <a:endParaRPr lang="en-US" sz="1800" dirty="0"/>
          </a:p>
        </p:txBody>
      </p:sp>
      <p:sp>
        <p:nvSpPr>
          <p:cNvPr id="18" name="r2c2"/>
          <p:cNvSpPr/>
          <p:nvPr/>
        </p:nvSpPr>
        <p:spPr>
          <a:xfrm>
            <a:off x="6134100" y="3949700"/>
            <a:ext cx="2349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不误触发脱困</a:t>
            </a:r>
            <a:endParaRPr lang="en-US" sz="1800" dirty="0"/>
          </a:p>
        </p:txBody>
      </p:sp>
      <p:sp>
        <p:nvSpPr>
          <p:cNvPr id="19" name="r2c3"/>
          <p:cNvSpPr/>
          <p:nvPr/>
        </p:nvSpPr>
        <p:spPr>
          <a:xfrm>
            <a:off x="8864600" y="3949700"/>
            <a:ext cx="26162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读回真值再继续</a:t>
            </a:r>
            <a:endParaRPr lang="en-US" sz="1800" dirty="0"/>
          </a:p>
        </p:txBody>
      </p:sp>
      <p:sp>
        <p:nvSpPr>
          <p:cNvPr id="20" name="s368"/>
          <p:cNvSpPr/>
          <p:nvPr/>
        </p:nvSpPr>
        <p:spPr>
          <a:xfrm>
            <a:off x="609600" y="4673600"/>
            <a:ext cx="109728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21" name="r3c0"/>
          <p:cNvSpPr/>
          <p:nvPr/>
        </p:nvSpPr>
        <p:spPr>
          <a:xfrm>
            <a:off x="609600" y="4826000"/>
            <a:ext cx="24638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游戏窗口消失</a:t>
            </a:r>
            <a:endParaRPr lang="en-US" sz="1800" dirty="0"/>
          </a:p>
        </p:txBody>
      </p:sp>
      <p:sp>
        <p:nvSpPr>
          <p:cNvPr id="22" name="r3c1"/>
          <p:cNvSpPr/>
          <p:nvPr/>
        </p:nvSpPr>
        <p:spPr>
          <a:xfrm>
            <a:off x="3429000" y="4826000"/>
            <a:ext cx="23368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护栏立即取消</a:t>
            </a:r>
            <a:endParaRPr lang="en-US" sz="1800" dirty="0"/>
          </a:p>
        </p:txBody>
      </p:sp>
      <p:sp>
        <p:nvSpPr>
          <p:cNvPr id="23" name="r3c2"/>
          <p:cNvSpPr/>
          <p:nvPr/>
        </p:nvSpPr>
        <p:spPr>
          <a:xfrm>
            <a:off x="6134100" y="4826000"/>
            <a:ext cx="2349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悬停等待不乱点</a:t>
            </a:r>
            <a:endParaRPr lang="en-US" sz="1800" dirty="0"/>
          </a:p>
        </p:txBody>
      </p:sp>
      <p:sp>
        <p:nvSpPr>
          <p:cNvPr id="24" name="r3c3"/>
          <p:cNvSpPr/>
          <p:nvPr/>
        </p:nvSpPr>
        <p:spPr>
          <a:xfrm>
            <a:off x="8864600" y="4826000"/>
            <a:ext cx="26162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窗口回来才继续</a:t>
            </a:r>
            <a:endParaRPr lang="en-US" sz="1800" dirty="0"/>
          </a:p>
        </p:txBody>
      </p:sp>
      <p:sp>
        <p:nvSpPr>
          <p:cNvPr id="25" name="sep450"/>
          <p:cNvSpPr/>
          <p:nvPr/>
        </p:nvSpPr>
        <p:spPr>
          <a:xfrm>
            <a:off x="609600" y="5715000"/>
            <a:ext cx="109728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26" name="readout"/>
          <p:cNvSpPr/>
          <p:nvPr/>
        </p:nvSpPr>
        <p:spPr>
          <a:xfrm>
            <a:off x="609600" y="6121400"/>
            <a:ext cx="1097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阈值来自 DegradeStateMachine：降级 0.65 / 恢复 0.80 / 卡住 3.0 km/h 乘 3.0 秒。</a:t>
            </a:r>
            <a:endParaRPr lang="en-US" sz="1300" dirty="0"/>
          </a:p>
        </p:txBody>
      </p:sp>
      <p:sp>
        <p:nvSpPr>
          <p:cNvPr id="27" name="footer"/>
          <p:cNvSpPr/>
          <p:nvPr/>
        </p:nvSpPr>
        <p:spPr>
          <a:xfrm>
            <a:off x="609600" y="6413500"/>
            <a:ext cx="994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C8C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来源：《代码-20-DegradeStateMachine 降级状态机》与 legacy-guard-patch</a:t>
            </a:r>
            <a:endParaRPr lang="en-US" sz="900" dirty="0"/>
          </a:p>
        </p:txBody>
      </p:sp>
      <p:sp>
        <p:nvSpPr>
          <p:cNvPr id="28" name="pageno"/>
          <p:cNvSpPr/>
          <p:nvPr/>
        </p:nvSpPr>
        <p:spPr>
          <a:xfrm>
            <a:off x="11061700" y="6400800"/>
            <a:ext cx="52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42900"/>
            <a:ext cx="844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COURSE WORKSHOP / 选择自测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609600" y="9652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先读闸门，再解释误读</a:t>
            </a:r>
            <a:endParaRPr lang="en-US" sz="3000" dirty="0"/>
          </a:p>
        </p:txBody>
      </p:sp>
      <p:sp>
        <p:nvSpPr>
          <p:cNvPr id="4" name="exhibitTag"/>
          <p:cNvSpPr/>
          <p:nvPr/>
        </p:nvSpPr>
        <p:spPr>
          <a:xfrm>
            <a:off x="9575800" y="584200"/>
            <a:ext cx="2006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</a:t>
            </a:r>
            <a:endParaRPr lang="en-US" sz="900" dirty="0"/>
          </a:p>
        </p:txBody>
      </p:sp>
      <p:sp>
        <p:nvSpPr>
          <p:cNvPr id="5" name="chartLabel"/>
          <p:cNvSpPr/>
          <p:nvPr/>
        </p:nvSpPr>
        <p:spPr>
          <a:xfrm>
            <a:off x="609600" y="1930400"/>
            <a:ext cx="1079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/ 速度识别的三道校验 · 按触发顺序</a:t>
            </a:r>
            <a:endParaRPr lang="en-US" sz="1300" dirty="0"/>
          </a:p>
        </p:txBody>
      </p:sp>
      <p:sp>
        <p:nvSpPr>
          <p:cNvPr id="6" name="track"/>
          <p:cNvSpPr/>
          <p:nvPr/>
        </p:nvSpPr>
        <p:spPr>
          <a:xfrm>
            <a:off x="1117600" y="3797300"/>
            <a:ext cx="10464800" cy="12700"/>
          </a:xfrm>
          <a:prstGeom prst="rect">
            <a:avLst/>
          </a:prstGeom>
          <a:solidFill>
            <a:srgbClr val="C9D2C6"/>
          </a:solidFill>
          <a:ln w="12700">
            <a:solidFill>
              <a:srgbClr val="C9D2C6"/>
            </a:solidFill>
            <a:prstDash val="solid"/>
          </a:ln>
        </p:spPr>
      </p:sp>
      <p:sp>
        <p:nvSpPr>
          <p:cNvPr id="7" name="band"/>
          <p:cNvSpPr/>
          <p:nvPr/>
        </p:nvSpPr>
        <p:spPr>
          <a:xfrm>
            <a:off x="3759200" y="2413000"/>
            <a:ext cx="1155700" cy="2997200"/>
          </a:xfrm>
          <a:prstGeom prst="rect">
            <a:avLst/>
          </a:prstGeom>
          <a:solidFill>
            <a:srgbClr val="E5E8DD"/>
          </a:solidFill>
          <a:ln w="12700">
            <a:solidFill>
              <a:srgbClr val="E5E8DD"/>
            </a:solidFill>
            <a:prstDash val="solid"/>
          </a:ln>
        </p:spPr>
      </p:sp>
      <p:sp>
        <p:nvSpPr>
          <p:cNvPr id="8" name="pt1"/>
          <p:cNvSpPr/>
          <p:nvPr/>
        </p:nvSpPr>
        <p:spPr>
          <a:xfrm>
            <a:off x="1229360" y="3769360"/>
            <a:ext cx="81280" cy="81280"/>
          </a:xfrm>
          <a:prstGeom prst="ellipse">
            <a:avLst/>
          </a:prstGeom>
          <a:solidFill>
            <a:srgbClr val="243F35"/>
          </a:solidFill>
          <a:ln w="12700">
            <a:solidFill>
              <a:srgbClr val="243F35"/>
            </a:solidFill>
            <a:prstDash val="solid"/>
          </a:ln>
        </p:spPr>
      </p:sp>
      <p:sp>
        <p:nvSpPr>
          <p:cNvPr id="9" name="pl1"/>
          <p:cNvSpPr/>
          <p:nvPr/>
        </p:nvSpPr>
        <p:spPr>
          <a:xfrm>
            <a:off x="685800" y="3276600"/>
            <a:ext cx="1168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原始读数</a:t>
            </a:r>
            <a:endParaRPr lang="en-US" sz="1300" dirty="0"/>
          </a:p>
        </p:txBody>
      </p:sp>
      <p:sp>
        <p:nvSpPr>
          <p:cNvPr id="10" name="pn1"/>
          <p:cNvSpPr/>
          <p:nvPr/>
        </p:nvSpPr>
        <p:spPr>
          <a:xfrm>
            <a:off x="1041400" y="5549900"/>
            <a:ext cx="46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2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pt2"/>
          <p:cNvSpPr/>
          <p:nvPr/>
        </p:nvSpPr>
        <p:spPr>
          <a:xfrm>
            <a:off x="2473960" y="3693160"/>
            <a:ext cx="81280" cy="81280"/>
          </a:xfrm>
          <a:prstGeom prst="ellipse">
            <a:avLst/>
          </a:prstGeom>
          <a:solidFill>
            <a:srgbClr val="243F35"/>
          </a:solidFill>
          <a:ln w="12700">
            <a:solidFill>
              <a:srgbClr val="243F35"/>
            </a:solidFill>
            <a:prstDash val="solid"/>
          </a:ln>
        </p:spPr>
      </p:sp>
      <p:sp>
        <p:nvSpPr>
          <p:cNvPr id="12" name="pl2"/>
          <p:cNvSpPr/>
          <p:nvPr/>
        </p:nvSpPr>
        <p:spPr>
          <a:xfrm>
            <a:off x="1930400" y="3200400"/>
            <a:ext cx="1168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量程 0 到 400</a:t>
            </a:r>
            <a:endParaRPr lang="en-US" sz="1300" dirty="0"/>
          </a:p>
        </p:txBody>
      </p:sp>
      <p:sp>
        <p:nvSpPr>
          <p:cNvPr id="13" name="pn2"/>
          <p:cNvSpPr/>
          <p:nvPr/>
        </p:nvSpPr>
        <p:spPr>
          <a:xfrm>
            <a:off x="2286000" y="5549900"/>
            <a:ext cx="46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2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pt3"/>
          <p:cNvSpPr/>
          <p:nvPr/>
        </p:nvSpPr>
        <p:spPr>
          <a:xfrm>
            <a:off x="3695700" y="3746500"/>
            <a:ext cx="127000" cy="127000"/>
          </a:xfrm>
          <a:prstGeom prst="ellipse">
            <a:avLst/>
          </a:prstGeom>
          <a:solidFill>
            <a:srgbClr val="447A62"/>
          </a:solidFill>
          <a:ln w="12700">
            <a:solidFill>
              <a:srgbClr val="447A62"/>
            </a:solidFill>
            <a:prstDash val="solid"/>
          </a:ln>
        </p:spPr>
      </p:sp>
      <p:sp>
        <p:nvSpPr>
          <p:cNvPr id="15" name="pl3"/>
          <p:cNvSpPr/>
          <p:nvPr/>
        </p:nvSpPr>
        <p:spPr>
          <a:xfrm>
            <a:off x="3175000" y="3276600"/>
            <a:ext cx="1168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5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跳变不超过 60</a:t>
            </a:r>
            <a:endParaRPr lang="en-US" sz="1300" dirty="0"/>
          </a:p>
        </p:txBody>
      </p:sp>
      <p:sp>
        <p:nvSpPr>
          <p:cNvPr id="16" name="pn3"/>
          <p:cNvSpPr/>
          <p:nvPr/>
        </p:nvSpPr>
        <p:spPr>
          <a:xfrm>
            <a:off x="3530600" y="5549900"/>
            <a:ext cx="46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2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pt4"/>
          <p:cNvSpPr/>
          <p:nvPr/>
        </p:nvSpPr>
        <p:spPr>
          <a:xfrm>
            <a:off x="4950460" y="3870960"/>
            <a:ext cx="81280" cy="81280"/>
          </a:xfrm>
          <a:prstGeom prst="ellipse">
            <a:avLst/>
          </a:prstGeom>
          <a:solidFill>
            <a:srgbClr val="243F35"/>
          </a:solidFill>
          <a:ln w="12700">
            <a:solidFill>
              <a:srgbClr val="243F35"/>
            </a:solidFill>
            <a:prstDash val="solid"/>
          </a:ln>
        </p:spPr>
      </p:sp>
      <p:sp>
        <p:nvSpPr>
          <p:cNvPr id="18" name="pl4"/>
          <p:cNvSpPr/>
          <p:nvPr/>
        </p:nvSpPr>
        <p:spPr>
          <a:xfrm>
            <a:off x="4406900" y="3378200"/>
            <a:ext cx="1168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三帧投票</a:t>
            </a:r>
            <a:endParaRPr lang="en-US" sz="1300" dirty="0"/>
          </a:p>
        </p:txBody>
      </p:sp>
      <p:sp>
        <p:nvSpPr>
          <p:cNvPr id="19" name="pn4"/>
          <p:cNvSpPr/>
          <p:nvPr/>
        </p:nvSpPr>
        <p:spPr>
          <a:xfrm>
            <a:off x="4762500" y="5549900"/>
            <a:ext cx="46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2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pt5"/>
          <p:cNvSpPr/>
          <p:nvPr/>
        </p:nvSpPr>
        <p:spPr>
          <a:xfrm>
            <a:off x="6207760" y="3947160"/>
            <a:ext cx="81280" cy="81280"/>
          </a:xfrm>
          <a:prstGeom prst="ellipse">
            <a:avLst/>
          </a:prstGeom>
          <a:solidFill>
            <a:srgbClr val="243F35"/>
          </a:solidFill>
          <a:ln w="12700">
            <a:solidFill>
              <a:srgbClr val="243F35"/>
            </a:solidFill>
            <a:prstDash val="solid"/>
          </a:ln>
        </p:spPr>
      </p:sp>
      <p:sp>
        <p:nvSpPr>
          <p:cNvPr id="21" name="pl5"/>
          <p:cNvSpPr/>
          <p:nvPr/>
        </p:nvSpPr>
        <p:spPr>
          <a:xfrm>
            <a:off x="5664200" y="3454400"/>
            <a:ext cx="1168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输出车速</a:t>
            </a:r>
            <a:endParaRPr lang="en-US" sz="1300" dirty="0"/>
          </a:p>
        </p:txBody>
      </p:sp>
      <p:sp>
        <p:nvSpPr>
          <p:cNvPr id="22" name="pn5"/>
          <p:cNvSpPr/>
          <p:nvPr/>
        </p:nvSpPr>
        <p:spPr>
          <a:xfrm>
            <a:off x="6019800" y="5549900"/>
            <a:ext cx="46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2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rail2"/>
          <p:cNvSpPr/>
          <p:nvPr/>
        </p:nvSpPr>
        <p:spPr>
          <a:xfrm>
            <a:off x="8318500" y="2082800"/>
            <a:ext cx="12700" cy="36830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24" name="bLabel"/>
          <p:cNvSpPr/>
          <p:nvPr/>
        </p:nvSpPr>
        <p:spPr>
          <a:xfrm>
            <a:off x="8623300" y="2070100"/>
            <a:ext cx="2959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 / 通过率</a:t>
            </a:r>
            <a:endParaRPr lang="en-US" sz="1300" dirty="0"/>
          </a:p>
        </p:txBody>
      </p:sp>
      <p:sp>
        <p:nvSpPr>
          <p:cNvPr id="25" name="big"/>
          <p:cNvSpPr/>
          <p:nvPr/>
        </p:nvSpPr>
        <p:spPr>
          <a:xfrm>
            <a:off x="8623300" y="2565400"/>
            <a:ext cx="2959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5600" dirty="0"/>
          </a:p>
        </p:txBody>
      </p:sp>
      <p:sp>
        <p:nvSpPr>
          <p:cNvPr id="26" name="bigFoot"/>
          <p:cNvSpPr/>
          <p:nvPr/>
        </p:nvSpPr>
        <p:spPr>
          <a:xfrm>
            <a:off x="8623300" y="3632200"/>
            <a:ext cx="29083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通过三层校验的单行读数占比。</a:t>
            </a:r>
            <a:endParaRPr lang="en-US" sz="1800" dirty="0"/>
          </a:p>
        </p:txBody>
      </p:sp>
      <p:sp>
        <p:nvSpPr>
          <p:cNvPr id="27" name="checkNext"/>
          <p:cNvSpPr/>
          <p:nvPr/>
        </p:nvSpPr>
        <p:spPr>
          <a:xfrm>
            <a:off x="8623300" y="4686300"/>
            <a:ext cx="2908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A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CHECK NEXT / 剩下 5%</a:t>
            </a:r>
            <a:endParaRPr lang="en-US" sz="1000" dirty="0"/>
          </a:p>
        </p:txBody>
      </p:sp>
      <p:sp>
        <p:nvSpPr>
          <p:cNvPr id="28" name="nextQ"/>
          <p:cNvSpPr/>
          <p:nvPr/>
        </p:nvSpPr>
        <p:spPr>
          <a:xfrm>
            <a:off x="8623300" y="5130800"/>
            <a:ext cx="29083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失败的那 5%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究竟是什么？</a:t>
            </a:r>
            <a:endParaRPr lang="en-US" sz="2000" dirty="0"/>
          </a:p>
        </p:txBody>
      </p:sp>
      <p:sp>
        <p:nvSpPr>
          <p:cNvPr id="29" name="sep462"/>
          <p:cNvSpPr/>
          <p:nvPr/>
        </p:nvSpPr>
        <p:spPr>
          <a:xfrm>
            <a:off x="609600" y="5867400"/>
            <a:ext cx="109728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30" name="readout"/>
          <p:cNvSpPr/>
          <p:nvPr/>
        </p:nvSpPr>
        <p:spPr>
          <a:xfrm>
            <a:off x="609600" y="6121400"/>
            <a:ext cx="1097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读数：三道闸门先后生效；缺口集中在第三道投票窗口，仍待分类。</a:t>
            </a:r>
            <a:endParaRPr lang="en-US" sz="1300" dirty="0"/>
          </a:p>
        </p:txBody>
      </p:sp>
      <p:sp>
        <p:nvSpPr>
          <p:cNvPr id="31" name="footer"/>
          <p:cNvSpPr/>
          <p:nvPr/>
        </p:nvSpPr>
        <p:spPr>
          <a:xfrm>
            <a:off x="609600" y="6413500"/>
            <a:ext cx="994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C8C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来源：《03-speed-ocr》三层校验口径与 OCR 实测记录</a:t>
            </a:r>
            <a:endParaRPr lang="en-US" sz="900" dirty="0"/>
          </a:p>
        </p:txBody>
      </p:sp>
      <p:sp>
        <p:nvSpPr>
          <p:cNvPr id="32" name="pageno"/>
          <p:cNvSpPr/>
          <p:nvPr/>
        </p:nvSpPr>
        <p:spPr>
          <a:xfrm>
            <a:off x="11061700" y="6400800"/>
            <a:ext cx="52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42900"/>
            <a:ext cx="844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COURSE WORKSHOP / 学习复盘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609600" y="9652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定位链路：四步，一步都不能断</a:t>
            </a:r>
            <a:endParaRPr lang="en-US" sz="3000" dirty="0"/>
          </a:p>
        </p:txBody>
      </p:sp>
      <p:sp>
        <p:nvSpPr>
          <p:cNvPr id="4" name="exhibitTag"/>
          <p:cNvSpPr/>
          <p:nvPr/>
        </p:nvSpPr>
        <p:spPr>
          <a:xfrm>
            <a:off x="9575800" y="584200"/>
            <a:ext cx="2006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</a:t>
            </a:r>
            <a:endParaRPr lang="en-US" sz="900" dirty="0"/>
          </a:p>
        </p:txBody>
      </p:sp>
      <p:sp>
        <p:nvSpPr>
          <p:cNvPr id="5" name="rowStage"/>
          <p:cNvSpPr/>
          <p:nvPr/>
        </p:nvSpPr>
        <p:spPr>
          <a:xfrm>
            <a:off x="609600" y="2387600"/>
            <a:ext cx="146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阶段</a:t>
            </a:r>
            <a:endParaRPr lang="en-US" sz="1200" dirty="0"/>
          </a:p>
        </p:txBody>
      </p:sp>
      <p:sp>
        <p:nvSpPr>
          <p:cNvPr id="6" name="rowAction"/>
          <p:cNvSpPr/>
          <p:nvPr/>
        </p:nvSpPr>
        <p:spPr>
          <a:xfrm>
            <a:off x="609600" y="3581400"/>
            <a:ext cx="146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动作</a:t>
            </a:r>
            <a:endParaRPr lang="en-US" sz="1200" dirty="0"/>
          </a:p>
        </p:txBody>
      </p:sp>
      <p:sp>
        <p:nvSpPr>
          <p:cNvPr id="7" name="rowSignal"/>
          <p:cNvSpPr/>
          <p:nvPr/>
        </p:nvSpPr>
        <p:spPr>
          <a:xfrm>
            <a:off x="609600" y="4775200"/>
            <a:ext cx="146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口径</a:t>
            </a:r>
            <a:endParaRPr lang="en-US" sz="1200" dirty="0"/>
          </a:p>
        </p:txBody>
      </p:sp>
      <p:sp>
        <p:nvSpPr>
          <p:cNvPr id="8" name="s1"/>
          <p:cNvSpPr/>
          <p:nvPr/>
        </p:nvSpPr>
        <p:spPr>
          <a:xfrm>
            <a:off x="2324100" y="2209800"/>
            <a:ext cx="2120900" cy="800100"/>
          </a:xfrm>
          <a:prstGeom prst="rect">
            <a:avLst/>
          </a:prstGeom>
          <a:solidFill>
            <a:srgbClr val="E5EBDD"/>
          </a:solidFill>
          <a:ln w="12700">
            <a:solidFill>
              <a:srgbClr val="E5EBDD"/>
            </a:solidFill>
            <a:prstDash val="solid"/>
          </a:ln>
        </p:spPr>
      </p:sp>
      <p:sp>
        <p:nvSpPr>
          <p:cNvPr id="9" name="s1t"/>
          <p:cNvSpPr/>
          <p:nvPr/>
        </p:nvSpPr>
        <p:spPr>
          <a:xfrm>
            <a:off x="2476500" y="2374900"/>
            <a:ext cx="1816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授权</a:t>
            </a:r>
            <a:endParaRPr lang="en-US" sz="1800" dirty="0"/>
          </a:p>
        </p:txBody>
      </p:sp>
      <p:sp>
        <p:nvSpPr>
          <p:cNvPr id="10" name="a1"/>
          <p:cNvSpPr/>
          <p:nvPr/>
        </p:nvSpPr>
        <p:spPr>
          <a:xfrm>
            <a:off x="2324100" y="3543300"/>
            <a:ext cx="20193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 内输一次管理员密码</a:t>
            </a:r>
            <a:endParaRPr lang="en-US" sz="2000" dirty="0"/>
          </a:p>
        </p:txBody>
      </p:sp>
      <p:sp>
        <p:nvSpPr>
          <p:cNvPr id="11" name="g1"/>
          <p:cNvSpPr/>
          <p:nvPr/>
        </p:nvSpPr>
        <p:spPr>
          <a:xfrm>
            <a:off x="2324100" y="4673600"/>
            <a:ext cx="20193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666</a:t>
            </a:r>
            <a:endParaRPr lang="en-US" sz="3500" dirty="0"/>
          </a:p>
        </p:txBody>
      </p:sp>
      <p:sp>
        <p:nvSpPr>
          <p:cNvPr id="12" name="u1"/>
          <p:cNvSpPr/>
          <p:nvPr/>
        </p:nvSpPr>
        <p:spPr>
          <a:xfrm>
            <a:off x="2324100" y="5410200"/>
            <a:ext cx="201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权限位</a:t>
            </a:r>
            <a:endParaRPr lang="en-US" sz="1100" dirty="0"/>
          </a:p>
        </p:txBody>
      </p:sp>
      <p:sp>
        <p:nvSpPr>
          <p:cNvPr id="13" name="s2"/>
          <p:cNvSpPr/>
          <p:nvPr/>
        </p:nvSpPr>
        <p:spPr>
          <a:xfrm>
            <a:off x="4648200" y="2209800"/>
            <a:ext cx="2120900" cy="800100"/>
          </a:xfrm>
          <a:prstGeom prst="rect">
            <a:avLst/>
          </a:prstGeom>
          <a:solidFill>
            <a:srgbClr val="447A62"/>
          </a:solidFill>
          <a:ln w="12700">
            <a:solidFill>
              <a:srgbClr val="447A62"/>
            </a:solidFill>
            <a:prstDash val="solid"/>
          </a:ln>
        </p:spPr>
      </p:sp>
      <p:sp>
        <p:nvSpPr>
          <p:cNvPr id="14" name="s2t"/>
          <p:cNvSpPr/>
          <p:nvPr/>
        </p:nvSpPr>
        <p:spPr>
          <a:xfrm>
            <a:off x="4800600" y="2374900"/>
            <a:ext cx="1816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7F4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抓包</a:t>
            </a:r>
            <a:endParaRPr lang="en-US" sz="1800" dirty="0"/>
          </a:p>
        </p:txBody>
      </p:sp>
      <p:sp>
        <p:nvSpPr>
          <p:cNvPr id="15" name="a2"/>
          <p:cNvSpPr/>
          <p:nvPr/>
        </p:nvSpPr>
        <p:spPr>
          <a:xfrm>
            <a:off x="4648200" y="3543300"/>
            <a:ext cx="20193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枚举网卡，跳过虚拟口</a:t>
            </a:r>
            <a:endParaRPr lang="en-US" sz="2000" dirty="0"/>
          </a:p>
        </p:txBody>
      </p:sp>
      <p:sp>
        <p:nvSpPr>
          <p:cNvPr id="16" name="g2"/>
          <p:cNvSpPr/>
          <p:nvPr/>
        </p:nvSpPr>
        <p:spPr>
          <a:xfrm>
            <a:off x="4648200" y="4673600"/>
            <a:ext cx="20193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30031</a:t>
            </a:r>
            <a:endParaRPr lang="en-US" sz="3500" dirty="0"/>
          </a:p>
        </p:txBody>
      </p:sp>
      <p:sp>
        <p:nvSpPr>
          <p:cNvPr id="17" name="u2"/>
          <p:cNvSpPr/>
          <p:nvPr/>
        </p:nvSpPr>
        <p:spPr>
          <a:xfrm>
            <a:off x="4648200" y="5410200"/>
            <a:ext cx="201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端口</a:t>
            </a:r>
            <a:endParaRPr lang="en-US" sz="1100" dirty="0"/>
          </a:p>
        </p:txBody>
      </p:sp>
      <p:sp>
        <p:nvSpPr>
          <p:cNvPr id="18" name="s3"/>
          <p:cNvSpPr/>
          <p:nvPr/>
        </p:nvSpPr>
        <p:spPr>
          <a:xfrm>
            <a:off x="6972300" y="2209800"/>
            <a:ext cx="2120900" cy="800100"/>
          </a:xfrm>
          <a:prstGeom prst="rect">
            <a:avLst/>
          </a:prstGeom>
          <a:solidFill>
            <a:srgbClr val="E5EBDD"/>
          </a:solidFill>
          <a:ln w="12700">
            <a:solidFill>
              <a:srgbClr val="E5EBDD"/>
            </a:solidFill>
            <a:prstDash val="solid"/>
          </a:ln>
        </p:spPr>
      </p:sp>
      <p:sp>
        <p:nvSpPr>
          <p:cNvPr id="19" name="s3t"/>
          <p:cNvSpPr/>
          <p:nvPr/>
        </p:nvSpPr>
        <p:spPr>
          <a:xfrm>
            <a:off x="7124700" y="2374900"/>
            <a:ext cx="1816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解码</a:t>
            </a:r>
            <a:endParaRPr lang="en-US" sz="1800" dirty="0"/>
          </a:p>
        </p:txBody>
      </p:sp>
      <p:sp>
        <p:nvSpPr>
          <p:cNvPr id="20" name="a3"/>
          <p:cNvSpPr/>
          <p:nvPr/>
        </p:nvSpPr>
        <p:spPr>
          <a:xfrm>
            <a:off x="6972300" y="3543300"/>
            <a:ext cx="20193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剥三层头，扫 UE5 位流</a:t>
            </a:r>
            <a:endParaRPr lang="en-US" sz="2000" dirty="0"/>
          </a:p>
        </p:txBody>
      </p:sp>
      <p:sp>
        <p:nvSpPr>
          <p:cNvPr id="21" name="g3"/>
          <p:cNvSpPr/>
          <p:nvPr/>
        </p:nvSpPr>
        <p:spPr>
          <a:xfrm>
            <a:off x="6972300" y="4673600"/>
            <a:ext cx="20193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3500" dirty="0"/>
          </a:p>
        </p:txBody>
      </p:sp>
      <p:sp>
        <p:nvSpPr>
          <p:cNvPr id="22" name="u3"/>
          <p:cNvSpPr/>
          <p:nvPr/>
        </p:nvSpPr>
        <p:spPr>
          <a:xfrm>
            <a:off x="6972300" y="5410200"/>
            <a:ext cx="201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最小载荷字节</a:t>
            </a:r>
            <a:endParaRPr lang="en-US" sz="1100" dirty="0"/>
          </a:p>
        </p:txBody>
      </p:sp>
      <p:sp>
        <p:nvSpPr>
          <p:cNvPr id="23" name="s4"/>
          <p:cNvSpPr/>
          <p:nvPr/>
        </p:nvSpPr>
        <p:spPr>
          <a:xfrm>
            <a:off x="9296400" y="2209800"/>
            <a:ext cx="2120900" cy="800100"/>
          </a:xfrm>
          <a:prstGeom prst="rect">
            <a:avLst/>
          </a:prstGeom>
          <a:solidFill>
            <a:srgbClr val="E5EBDD"/>
          </a:solidFill>
          <a:ln w="12700">
            <a:solidFill>
              <a:srgbClr val="E5EBDD"/>
            </a:solidFill>
            <a:prstDash val="solid"/>
          </a:ln>
        </p:spPr>
      </p:sp>
      <p:sp>
        <p:nvSpPr>
          <p:cNvPr id="24" name="s4t"/>
          <p:cNvSpPr/>
          <p:nvPr/>
        </p:nvSpPr>
        <p:spPr>
          <a:xfrm>
            <a:off x="9448800" y="2374900"/>
            <a:ext cx="1816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上图</a:t>
            </a:r>
            <a:endParaRPr lang="en-US" sz="1800" dirty="0"/>
          </a:p>
        </p:txBody>
      </p:sp>
      <p:sp>
        <p:nvSpPr>
          <p:cNvPr id="25" name="a4"/>
          <p:cNvSpPr/>
          <p:nvPr/>
        </p:nvSpPr>
        <p:spPr>
          <a:xfrm>
            <a:off x="9296400" y="3543300"/>
            <a:ext cx="20193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线性仿射到地图像素</a:t>
            </a:r>
            <a:endParaRPr lang="en-US" sz="2000" dirty="0"/>
          </a:p>
        </p:txBody>
      </p:sp>
      <p:sp>
        <p:nvSpPr>
          <p:cNvPr id="26" name="g4"/>
          <p:cNvSpPr/>
          <p:nvPr/>
        </p:nvSpPr>
        <p:spPr>
          <a:xfrm>
            <a:off x="9296400" y="4673600"/>
            <a:ext cx="20193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13056</a:t>
            </a:r>
            <a:endParaRPr lang="en-US" sz="3500" dirty="0"/>
          </a:p>
        </p:txBody>
      </p:sp>
      <p:sp>
        <p:nvSpPr>
          <p:cNvPr id="27" name="u4"/>
          <p:cNvSpPr/>
          <p:nvPr/>
        </p:nvSpPr>
        <p:spPr>
          <a:xfrm>
            <a:off x="9296400" y="5410200"/>
            <a:ext cx="201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底图边长 / 像素</a:t>
            </a:r>
            <a:endParaRPr lang="en-US" sz="1100" dirty="0"/>
          </a:p>
        </p:txBody>
      </p:sp>
      <p:sp>
        <p:nvSpPr>
          <p:cNvPr id="28" name="sep465"/>
          <p:cNvSpPr/>
          <p:nvPr/>
        </p:nvSpPr>
        <p:spPr>
          <a:xfrm>
            <a:off x="609600" y="5905500"/>
            <a:ext cx="109728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29" name="readout"/>
          <p:cNvSpPr/>
          <p:nvPr/>
        </p:nvSpPr>
        <p:spPr>
          <a:xfrm>
            <a:off x="609600" y="6032500"/>
            <a:ext cx="10972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高亮抓包：定位故障历史上多数出在这里，过滤器与网卡选择决定后面三步有没有输入。</a:t>
            </a:r>
            <a:endParaRPr lang="en-US" sz="1300" dirty="0"/>
          </a:p>
        </p:txBody>
      </p:sp>
      <p:sp>
        <p:nvSpPr>
          <p:cNvPr id="30" name="footer"/>
          <p:cNvSpPr/>
          <p:nvPr/>
        </p:nvSpPr>
        <p:spPr>
          <a:xfrm>
            <a:off x="609600" y="6413500"/>
            <a:ext cx="994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C8C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来源：《02-network-locate》与《代码-04-CoordinateCapture 网络坐标采集》</a:t>
            </a:r>
            <a:endParaRPr lang="en-US" sz="900" dirty="0"/>
          </a:p>
        </p:txBody>
      </p:sp>
      <p:sp>
        <p:nvSpPr>
          <p:cNvPr id="31" name="pageno"/>
          <p:cNvSpPr/>
          <p:nvPr/>
        </p:nvSpPr>
        <p:spPr>
          <a:xfrm>
            <a:off x="11061700" y="6400800"/>
            <a:ext cx="52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42900"/>
            <a:ext cx="844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COURSE WORKSHOP / 验证约定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609600" y="9652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判据先写下来，再看结果</a:t>
            </a:r>
            <a:endParaRPr lang="en-US" sz="3000" dirty="0"/>
          </a:p>
        </p:txBody>
      </p:sp>
      <p:sp>
        <p:nvSpPr>
          <p:cNvPr id="4" name="exhibitTag"/>
          <p:cNvSpPr/>
          <p:nvPr/>
        </p:nvSpPr>
        <p:spPr>
          <a:xfrm>
            <a:off x="9575800" y="584200"/>
            <a:ext cx="2006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</a:t>
            </a:r>
            <a:endParaRPr lang="en-US" sz="900" dirty="0"/>
          </a:p>
        </p:txBody>
      </p:sp>
      <p:sp>
        <p:nvSpPr>
          <p:cNvPr id="5" name="vLabel"/>
          <p:cNvSpPr/>
          <p:nvPr/>
        </p:nvSpPr>
        <p:spPr>
          <a:xfrm>
            <a:off x="609600" y="2133600"/>
            <a:ext cx="3683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2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 RULE</a:t>
            </a:r>
            <a:endParaRPr lang="en-US" sz="1200" dirty="0"/>
          </a:p>
        </p:txBody>
      </p:sp>
      <p:sp>
        <p:nvSpPr>
          <p:cNvPr id="6" name="vBig"/>
          <p:cNvSpPr/>
          <p:nvPr/>
        </p:nvSpPr>
        <p:spPr>
          <a:xfrm>
            <a:off x="609600" y="2755900"/>
            <a:ext cx="36576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一个判断。</a:t>
            </a:r>
            <a:endParaRPr lang="en-US" sz="3000" dirty="0"/>
          </a:p>
        </p:txBody>
      </p:sp>
      <p:sp>
        <p:nvSpPr>
          <p:cNvPr id="7" name="vBody"/>
          <p:cNvSpPr/>
          <p:nvPr/>
        </p:nvSpPr>
        <p:spPr>
          <a:xfrm>
            <a:off x="609600" y="4584700"/>
            <a:ext cx="35687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引擎日志里的自检行是唯一的准入凭据；日志之外的说法一律视为未验证。</a:t>
            </a:r>
            <a:endParaRPr lang="en-US" sz="2000" dirty="0"/>
          </a:p>
        </p:txBody>
      </p:sp>
      <p:sp>
        <p:nvSpPr>
          <p:cNvPr id="8" name="vrail"/>
          <p:cNvSpPr/>
          <p:nvPr/>
        </p:nvSpPr>
        <p:spPr>
          <a:xfrm>
            <a:off x="4800600" y="2082800"/>
            <a:ext cx="12700" cy="38100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9" name="h1k"/>
          <p:cNvSpPr/>
          <p:nvPr/>
        </p:nvSpPr>
        <p:spPr>
          <a:xfrm>
            <a:off x="5105400" y="2247900"/>
            <a:ext cx="17907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假设</a:t>
            </a:r>
            <a:endParaRPr lang="en-US" sz="1800" dirty="0"/>
          </a:p>
        </p:txBody>
      </p:sp>
      <p:sp>
        <p:nvSpPr>
          <p:cNvPr id="10" name="h1v"/>
          <p:cNvSpPr/>
          <p:nvPr/>
        </p:nvSpPr>
        <p:spPr>
          <a:xfrm>
            <a:off x="7124700" y="2247900"/>
            <a:ext cx="4445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权限恢复后，引擎自检应输出 ax 与 screen 均为 true。</a:t>
            </a:r>
            <a:endParaRPr lang="en-US" sz="1800" dirty="0"/>
          </a:p>
        </p:txBody>
      </p:sp>
      <p:sp>
        <p:nvSpPr>
          <p:cNvPr id="11" name="sep236"/>
          <p:cNvSpPr/>
          <p:nvPr/>
        </p:nvSpPr>
        <p:spPr>
          <a:xfrm>
            <a:off x="4978400" y="2997200"/>
            <a:ext cx="66040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12" name="h2k"/>
          <p:cNvSpPr/>
          <p:nvPr/>
        </p:nvSpPr>
        <p:spPr>
          <a:xfrm>
            <a:off x="5105400" y="3149600"/>
            <a:ext cx="17907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对照</a:t>
            </a:r>
            <a:endParaRPr lang="en-US" sz="1800" dirty="0"/>
          </a:p>
        </p:txBody>
      </p:sp>
      <p:sp>
        <p:nvSpPr>
          <p:cNvPr id="13" name="h2v"/>
          <p:cNvSpPr/>
          <p:nvPr/>
        </p:nvSpPr>
        <p:spPr>
          <a:xfrm>
            <a:off x="7124700" y="3149600"/>
            <a:ext cx="4445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对照同一份日志里 fail-fast 出现的次数。</a:t>
            </a:r>
            <a:endParaRPr lang="en-US" sz="1800" dirty="0"/>
          </a:p>
        </p:txBody>
      </p:sp>
      <p:sp>
        <p:nvSpPr>
          <p:cNvPr id="14" name="sep307"/>
          <p:cNvSpPr/>
          <p:nvPr/>
        </p:nvSpPr>
        <p:spPr>
          <a:xfrm>
            <a:off x="4978400" y="3898900"/>
            <a:ext cx="66040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15" name="h3k"/>
          <p:cNvSpPr/>
          <p:nvPr/>
        </p:nvSpPr>
        <p:spPr>
          <a:xfrm>
            <a:off x="5105400" y="4051300"/>
            <a:ext cx="17907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度量</a:t>
            </a:r>
            <a:endParaRPr lang="en-US" sz="1800" dirty="0"/>
          </a:p>
        </p:txBody>
      </p:sp>
      <p:sp>
        <p:nvSpPr>
          <p:cNvPr id="16" name="h3v"/>
          <p:cNvSpPr/>
          <p:nvPr/>
        </p:nvSpPr>
        <p:spPr>
          <a:xfrm>
            <a:off x="7124700" y="4051300"/>
            <a:ext cx="4445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YOLOPX 掩码格子数，以及帧流是否持续有帧。</a:t>
            </a:r>
            <a:endParaRPr lang="en-US" sz="1800" dirty="0"/>
          </a:p>
        </p:txBody>
      </p:sp>
      <p:sp>
        <p:nvSpPr>
          <p:cNvPr id="17" name="sep378"/>
          <p:cNvSpPr/>
          <p:nvPr/>
        </p:nvSpPr>
        <p:spPr>
          <a:xfrm>
            <a:off x="4978400" y="4800600"/>
            <a:ext cx="66040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18" name="h4k"/>
          <p:cNvSpPr/>
          <p:nvPr/>
        </p:nvSpPr>
        <p:spPr>
          <a:xfrm>
            <a:off x="5105400" y="4953000"/>
            <a:ext cx="17907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判据</a:t>
            </a:r>
            <a:endParaRPr lang="en-US" sz="1800" dirty="0"/>
          </a:p>
        </p:txBody>
      </p:sp>
      <p:sp>
        <p:nvSpPr>
          <p:cNvPr id="19" name="h4v"/>
          <p:cNvSpPr/>
          <p:nvPr/>
        </p:nvSpPr>
        <p:spPr>
          <a:xfrm>
            <a:off x="7124700" y="4953000"/>
            <a:ext cx="4445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三项全过才算链路可用；任何一项不过，结论不导出。</a:t>
            </a:r>
            <a:endParaRPr lang="en-US" sz="1800" dirty="0"/>
          </a:p>
        </p:txBody>
      </p:sp>
      <p:sp>
        <p:nvSpPr>
          <p:cNvPr id="20" name="sep462"/>
          <p:cNvSpPr/>
          <p:nvPr/>
        </p:nvSpPr>
        <p:spPr>
          <a:xfrm>
            <a:off x="609600" y="5867400"/>
            <a:ext cx="109728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21" name="readout"/>
          <p:cNvSpPr/>
          <p:nvPr/>
        </p:nvSpPr>
        <p:spPr>
          <a:xfrm>
            <a:off x="609600" y="6121400"/>
            <a:ext cx="1097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实测记录：最后一轮自检 ax=true screen=true，fail-fast 0 次，掩码 da 312 格 / ll 41 格。</a:t>
            </a:r>
            <a:endParaRPr lang="en-US" sz="1300" dirty="0"/>
          </a:p>
        </p:txBody>
      </p:sp>
      <p:sp>
        <p:nvSpPr>
          <p:cNvPr id="22" name="footer"/>
          <p:cNvSpPr/>
          <p:nvPr/>
        </p:nvSpPr>
        <p:spPr>
          <a:xfrm>
            <a:off x="609600" y="6413500"/>
            <a:ext cx="994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C8C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来源：引擎日志复核块（2026-09-29）与 PROGRESS.md</a:t>
            </a:r>
            <a:endParaRPr lang="en-US" sz="900" dirty="0"/>
          </a:p>
        </p:txBody>
      </p:sp>
      <p:sp>
        <p:nvSpPr>
          <p:cNvPr id="23" name="pageno"/>
          <p:cNvSpPr/>
          <p:nvPr/>
        </p:nvSpPr>
        <p:spPr>
          <a:xfrm>
            <a:off x="11061700" y="6400800"/>
            <a:ext cx="52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42900"/>
            <a:ext cx="844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COURSE WORKSHOP / 复核记录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609600" y="9652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文档写过的数字，也要重核</a:t>
            </a:r>
            <a:endParaRPr lang="en-US" sz="3000" dirty="0"/>
          </a:p>
        </p:txBody>
      </p:sp>
      <p:sp>
        <p:nvSpPr>
          <p:cNvPr id="4" name="exhibitTag"/>
          <p:cNvSpPr/>
          <p:nvPr/>
        </p:nvSpPr>
        <p:spPr>
          <a:xfrm>
            <a:off x="9575800" y="584200"/>
            <a:ext cx="2006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</a:t>
            </a:r>
            <a:endParaRPr lang="en-US" sz="900" dirty="0"/>
          </a:p>
        </p:txBody>
      </p:sp>
      <p:sp>
        <p:nvSpPr>
          <p:cNvPr id="5" name="rLabel"/>
          <p:cNvSpPr/>
          <p:nvPr/>
        </p:nvSpPr>
        <p:spPr>
          <a:xfrm>
            <a:off x="609600" y="2133600"/>
            <a:ext cx="3683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2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REVISION</a:t>
            </a:r>
            <a:endParaRPr lang="en-US" sz="1200" dirty="0"/>
          </a:p>
        </p:txBody>
      </p:sp>
      <p:sp>
        <p:nvSpPr>
          <p:cNvPr id="6" name="rBig"/>
          <p:cNvSpPr/>
          <p:nvPr/>
        </p:nvSpPr>
        <p:spPr>
          <a:xfrm>
            <a:off x="609600" y="2755900"/>
            <a:ext cx="3657600" cy="153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才算数。</a:t>
            </a:r>
            <a:endParaRPr lang="en-US" sz="3400" dirty="0"/>
          </a:p>
        </p:txBody>
      </p:sp>
      <p:sp>
        <p:nvSpPr>
          <p:cNvPr id="7" name="rBody"/>
          <p:cNvSpPr/>
          <p:nvPr/>
        </p:nvSpPr>
        <p:spPr>
          <a:xfrm>
            <a:off x="609600" y="4686300"/>
            <a:ext cx="35687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本轮全库复核逐文件对照源码，行数、协议版本与参数表都被改写。</a:t>
            </a:r>
            <a:endParaRPr lang="en-US" sz="2000" dirty="0"/>
          </a:p>
        </p:txBody>
      </p:sp>
      <p:sp>
        <p:nvSpPr>
          <p:cNvPr id="8" name="rrail"/>
          <p:cNvSpPr/>
          <p:nvPr/>
        </p:nvSpPr>
        <p:spPr>
          <a:xfrm>
            <a:off x="4800600" y="2082800"/>
            <a:ext cx="12700" cy="38100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9" name="c1k"/>
          <p:cNvSpPr/>
          <p:nvPr/>
        </p:nvSpPr>
        <p:spPr>
          <a:xfrm>
            <a:off x="5105400" y="2209800"/>
            <a:ext cx="431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CoordinateCapture.swift / 行</a:t>
            </a:r>
            <a:endParaRPr lang="en-US" sz="2000" dirty="0"/>
          </a:p>
        </p:txBody>
      </p:sp>
      <p:sp>
        <p:nvSpPr>
          <p:cNvPr id="10" name="bar1a"/>
          <p:cNvSpPr/>
          <p:nvPr/>
        </p:nvSpPr>
        <p:spPr>
          <a:xfrm>
            <a:off x="5270500" y="2857500"/>
            <a:ext cx="2527300" cy="254000"/>
          </a:xfrm>
          <a:prstGeom prst="rect">
            <a:avLst/>
          </a:prstGeom>
          <a:solidFill>
            <a:srgbClr val="B8BEB4"/>
          </a:solidFill>
          <a:ln w="12700">
            <a:solidFill>
              <a:srgbClr val="B8BEB4"/>
            </a:solidFill>
            <a:prstDash val="solid"/>
          </a:ln>
        </p:spPr>
      </p:sp>
      <p:sp>
        <p:nvSpPr>
          <p:cNvPr id="11" name="bar1b"/>
          <p:cNvSpPr/>
          <p:nvPr/>
        </p:nvSpPr>
        <p:spPr>
          <a:xfrm>
            <a:off x="5270500" y="3238500"/>
            <a:ext cx="4318000" cy="254000"/>
          </a:xfrm>
          <a:prstGeom prst="rect">
            <a:avLst/>
          </a:prstGeom>
          <a:solidFill>
            <a:srgbClr val="447A62"/>
          </a:solidFill>
          <a:ln w="12700">
            <a:solidFill>
              <a:srgbClr val="447A62"/>
            </a:solidFill>
            <a:prstDash val="solid"/>
          </a:ln>
        </p:spPr>
      </p:sp>
      <p:sp>
        <p:nvSpPr>
          <p:cNvPr id="12" name="n1"/>
          <p:cNvSpPr/>
          <p:nvPr/>
        </p:nvSpPr>
        <p:spPr>
          <a:xfrm>
            <a:off x="9652000" y="2908300"/>
            <a:ext cx="1930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635 到 1083</a:t>
            </a:r>
            <a:endParaRPr lang="en-US" sz="2100" dirty="0"/>
          </a:p>
        </p:txBody>
      </p:sp>
      <p:sp>
        <p:nvSpPr>
          <p:cNvPr id="13" name="c2k"/>
          <p:cNvSpPr/>
          <p:nvPr/>
        </p:nvSpPr>
        <p:spPr>
          <a:xfrm>
            <a:off x="5105400" y="4013200"/>
            <a:ext cx="431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 参数 / 个</a:t>
            </a:r>
            <a:endParaRPr lang="en-US" sz="2000" dirty="0"/>
          </a:p>
        </p:txBody>
      </p:sp>
      <p:sp>
        <p:nvSpPr>
          <p:cNvPr id="14" name="bar2a"/>
          <p:cNvSpPr/>
          <p:nvPr/>
        </p:nvSpPr>
        <p:spPr>
          <a:xfrm>
            <a:off x="5270500" y="4660900"/>
            <a:ext cx="2971800" cy="254000"/>
          </a:xfrm>
          <a:prstGeom prst="rect">
            <a:avLst/>
          </a:prstGeom>
          <a:solidFill>
            <a:srgbClr val="B8BEB4"/>
          </a:solidFill>
          <a:ln w="12700">
            <a:solidFill>
              <a:srgbClr val="B8BEB4"/>
            </a:solidFill>
            <a:prstDash val="solid"/>
          </a:ln>
        </p:spPr>
      </p:sp>
      <p:sp>
        <p:nvSpPr>
          <p:cNvPr id="15" name="bar2b"/>
          <p:cNvSpPr/>
          <p:nvPr/>
        </p:nvSpPr>
        <p:spPr>
          <a:xfrm>
            <a:off x="5270500" y="5041900"/>
            <a:ext cx="4318000" cy="254000"/>
          </a:xfrm>
          <a:prstGeom prst="rect">
            <a:avLst/>
          </a:prstGeom>
          <a:solidFill>
            <a:srgbClr val="447A62"/>
          </a:solidFill>
          <a:ln w="12700">
            <a:solidFill>
              <a:srgbClr val="447A62"/>
            </a:solidFill>
            <a:prstDash val="solid"/>
          </a:ln>
        </p:spPr>
      </p:sp>
      <p:sp>
        <p:nvSpPr>
          <p:cNvPr id="16" name="n2"/>
          <p:cNvSpPr/>
          <p:nvPr/>
        </p:nvSpPr>
        <p:spPr>
          <a:xfrm>
            <a:off x="9652000" y="4711700"/>
            <a:ext cx="1930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 到 29</a:t>
            </a:r>
            <a:endParaRPr lang="en-US" sz="2100" dirty="0"/>
          </a:p>
        </p:txBody>
      </p:sp>
      <p:sp>
        <p:nvSpPr>
          <p:cNvPr id="17" name="sep462"/>
          <p:cNvSpPr/>
          <p:nvPr/>
        </p:nvSpPr>
        <p:spPr>
          <a:xfrm>
            <a:off x="609600" y="5867400"/>
            <a:ext cx="109728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18" name="readout"/>
          <p:cNvSpPr/>
          <p:nvPr/>
        </p:nvSpPr>
        <p:spPr>
          <a:xfrm>
            <a:off x="609600" y="6121400"/>
            <a:ext cx="1097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上图：旧记录。下图：本轮实测。两次订正分别来自逐文件行数统计与参数表清点。</a:t>
            </a:r>
            <a:endParaRPr lang="en-US" sz="1300" dirty="0"/>
          </a:p>
        </p:txBody>
      </p:sp>
      <p:sp>
        <p:nvSpPr>
          <p:cNvPr id="19" name="footer"/>
          <p:cNvSpPr/>
          <p:nvPr/>
        </p:nvSpPr>
        <p:spPr>
          <a:xfrm>
            <a:off x="609600" y="6413500"/>
            <a:ext cx="994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C8C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来源：《代码-00 源码树与架构总览》2026-09-29 复核块与《代码-33》</a:t>
            </a:r>
            <a:endParaRPr lang="en-US" sz="900" dirty="0"/>
          </a:p>
        </p:txBody>
      </p:sp>
      <p:sp>
        <p:nvSpPr>
          <p:cNvPr id="20" name="pageno"/>
          <p:cNvSpPr/>
          <p:nvPr/>
        </p:nvSpPr>
        <p:spPr>
          <a:xfrm>
            <a:off x="11061700" y="6400800"/>
            <a:ext cx="52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42900"/>
            <a:ext cx="844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COURSE WORKSHOP / 里程碑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609600" y="9652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系统是这样长出来的</a:t>
            </a:r>
            <a:endParaRPr lang="en-US" sz="3000" dirty="0"/>
          </a:p>
        </p:txBody>
      </p:sp>
      <p:sp>
        <p:nvSpPr>
          <p:cNvPr id="4" name="exhibitTag"/>
          <p:cNvSpPr/>
          <p:nvPr/>
        </p:nvSpPr>
        <p:spPr>
          <a:xfrm>
            <a:off x="9575800" y="584200"/>
            <a:ext cx="2006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</a:t>
            </a:r>
            <a:endParaRPr lang="en-US" sz="900" dirty="0"/>
          </a:p>
        </p:txBody>
      </p:sp>
      <p:sp>
        <p:nvSpPr>
          <p:cNvPr id="5" name="tlaxis"/>
          <p:cNvSpPr/>
          <p:nvPr/>
        </p:nvSpPr>
        <p:spPr>
          <a:xfrm>
            <a:off x="1117600" y="3683000"/>
            <a:ext cx="8331200" cy="12700"/>
          </a:xfrm>
          <a:prstGeom prst="rect">
            <a:avLst/>
          </a:prstGeom>
          <a:solidFill>
            <a:srgbClr val="C9D2C6"/>
          </a:solidFill>
          <a:ln w="12700">
            <a:solidFill>
              <a:srgbClr val="C9D2C6"/>
            </a:solidFill>
            <a:prstDash val="solid"/>
          </a:ln>
        </p:spPr>
      </p:sp>
      <p:sp>
        <p:nvSpPr>
          <p:cNvPr id="6" name="tld1"/>
          <p:cNvSpPr/>
          <p:nvPr/>
        </p:nvSpPr>
        <p:spPr>
          <a:xfrm>
            <a:off x="1117600" y="3594100"/>
            <a:ext cx="177800" cy="177800"/>
          </a:xfrm>
          <a:prstGeom prst="ellipse">
            <a:avLst/>
          </a:prstGeom>
          <a:solidFill>
            <a:srgbClr val="447A62"/>
          </a:solidFill>
          <a:ln w="12700">
            <a:solidFill>
              <a:srgbClr val="447A62"/>
            </a:solidFill>
            <a:prstDash val="solid"/>
          </a:ln>
        </p:spPr>
      </p:sp>
      <p:sp>
        <p:nvSpPr>
          <p:cNvPr id="7" name="tln1"/>
          <p:cNvSpPr/>
          <p:nvPr/>
        </p:nvSpPr>
        <p:spPr>
          <a:xfrm>
            <a:off x="1358900" y="3784600"/>
            <a:ext cx="76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08月</a:t>
            </a:r>
            <a:endParaRPr lang="en-US" sz="1300" dirty="0"/>
          </a:p>
        </p:txBody>
      </p:sp>
      <p:sp>
        <p:nvSpPr>
          <p:cNvPr id="8" name="tlt1"/>
          <p:cNvSpPr/>
          <p:nvPr/>
        </p:nvSpPr>
        <p:spPr>
          <a:xfrm>
            <a:off x="990600" y="2247900"/>
            <a:ext cx="23368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模型落地</a:t>
            </a:r>
            <a:endParaRPr lang="en-US" sz="2500" dirty="0"/>
          </a:p>
        </p:txBody>
      </p:sp>
      <p:sp>
        <p:nvSpPr>
          <p:cNvPr id="9" name="tls1"/>
          <p:cNvSpPr/>
          <p:nvPr/>
        </p:nvSpPr>
        <p:spPr>
          <a:xfrm>
            <a:off x="990600" y="2844800"/>
            <a:ext cx="23114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m9_mono 单目直接出操控量</a:t>
            </a:r>
            <a:endParaRPr lang="en-US" sz="1700" dirty="0"/>
          </a:p>
        </p:txBody>
      </p:sp>
      <p:sp>
        <p:nvSpPr>
          <p:cNvPr id="10" name="tld2"/>
          <p:cNvSpPr/>
          <p:nvPr/>
        </p:nvSpPr>
        <p:spPr>
          <a:xfrm>
            <a:off x="3835400" y="3594100"/>
            <a:ext cx="177800" cy="177800"/>
          </a:xfrm>
          <a:prstGeom prst="ellipse">
            <a:avLst/>
          </a:prstGeom>
          <a:solidFill>
            <a:srgbClr val="447A62"/>
          </a:solidFill>
          <a:ln w="12700">
            <a:solidFill>
              <a:srgbClr val="447A62"/>
            </a:solidFill>
            <a:prstDash val="solid"/>
          </a:ln>
        </p:spPr>
      </p:sp>
      <p:sp>
        <p:nvSpPr>
          <p:cNvPr id="11" name="tln2"/>
          <p:cNvSpPr/>
          <p:nvPr/>
        </p:nvSpPr>
        <p:spPr>
          <a:xfrm>
            <a:off x="4076700" y="3784600"/>
            <a:ext cx="76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09-19</a:t>
            </a:r>
            <a:endParaRPr lang="en-US" sz="1300" dirty="0"/>
          </a:p>
        </p:txBody>
      </p:sp>
      <p:sp>
        <p:nvSpPr>
          <p:cNvPr id="12" name="tlt2"/>
          <p:cNvSpPr/>
          <p:nvPr/>
        </p:nvSpPr>
        <p:spPr>
          <a:xfrm>
            <a:off x="3708400" y="4191000"/>
            <a:ext cx="23368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文档与归档</a:t>
            </a:r>
            <a:endParaRPr lang="en-US" sz="2500" dirty="0"/>
          </a:p>
        </p:txBody>
      </p:sp>
      <p:sp>
        <p:nvSpPr>
          <p:cNvPr id="13" name="tls2"/>
          <p:cNvSpPr/>
          <p:nvPr/>
        </p:nvSpPr>
        <p:spPr>
          <a:xfrm>
            <a:off x="3708400" y="4953000"/>
            <a:ext cx="23114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 GB 迁出外置盘，本地留证据</a:t>
            </a:r>
            <a:endParaRPr lang="en-US" sz="1700" dirty="0"/>
          </a:p>
        </p:txBody>
      </p:sp>
      <p:sp>
        <p:nvSpPr>
          <p:cNvPr id="14" name="tld3"/>
          <p:cNvSpPr/>
          <p:nvPr/>
        </p:nvSpPr>
        <p:spPr>
          <a:xfrm>
            <a:off x="6553200" y="3594100"/>
            <a:ext cx="177800" cy="177800"/>
          </a:xfrm>
          <a:prstGeom prst="ellipse">
            <a:avLst/>
          </a:prstGeom>
          <a:solidFill>
            <a:srgbClr val="447A62"/>
          </a:solidFill>
          <a:ln w="12700">
            <a:solidFill>
              <a:srgbClr val="447A62"/>
            </a:solidFill>
            <a:prstDash val="solid"/>
          </a:ln>
        </p:spPr>
      </p:sp>
      <p:sp>
        <p:nvSpPr>
          <p:cNvPr id="15" name="tln3"/>
          <p:cNvSpPr/>
          <p:nvPr/>
        </p:nvSpPr>
        <p:spPr>
          <a:xfrm>
            <a:off x="6794500" y="3784600"/>
            <a:ext cx="76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09-24</a:t>
            </a:r>
            <a:endParaRPr lang="en-US" sz="1300" dirty="0"/>
          </a:p>
        </p:txBody>
      </p:sp>
      <p:sp>
        <p:nvSpPr>
          <p:cNvPr id="16" name="tlt3"/>
          <p:cNvSpPr/>
          <p:nvPr/>
        </p:nvSpPr>
        <p:spPr>
          <a:xfrm>
            <a:off x="6426200" y="2247900"/>
            <a:ext cx="23368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性能批次</a:t>
            </a:r>
            <a:endParaRPr lang="en-US" sz="2500" dirty="0"/>
          </a:p>
        </p:txBody>
      </p:sp>
      <p:sp>
        <p:nvSpPr>
          <p:cNvPr id="17" name="tls3"/>
          <p:cNvSpPr/>
          <p:nvPr/>
        </p:nvSpPr>
        <p:spPr>
          <a:xfrm>
            <a:off x="6426200" y="2844800"/>
            <a:ext cx="23114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 项优化，发布快路径省 78.6% 热点</a:t>
            </a:r>
            <a:endParaRPr lang="en-US" sz="1700" dirty="0"/>
          </a:p>
        </p:txBody>
      </p:sp>
      <p:sp>
        <p:nvSpPr>
          <p:cNvPr id="18" name="tld4"/>
          <p:cNvSpPr/>
          <p:nvPr/>
        </p:nvSpPr>
        <p:spPr>
          <a:xfrm>
            <a:off x="9271000" y="3594100"/>
            <a:ext cx="177800" cy="177800"/>
          </a:xfrm>
          <a:prstGeom prst="ellipse">
            <a:avLst/>
          </a:prstGeom>
          <a:solidFill>
            <a:srgbClr val="447A62"/>
          </a:solidFill>
          <a:ln w="12700">
            <a:solidFill>
              <a:srgbClr val="447A62"/>
            </a:solidFill>
            <a:prstDash val="solid"/>
          </a:ln>
        </p:spPr>
      </p:sp>
      <p:sp>
        <p:nvSpPr>
          <p:cNvPr id="19" name="tln4"/>
          <p:cNvSpPr/>
          <p:nvPr/>
        </p:nvSpPr>
        <p:spPr>
          <a:xfrm>
            <a:off x="9512300" y="3784600"/>
            <a:ext cx="76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09-27</a:t>
            </a:r>
            <a:endParaRPr lang="en-US" sz="1300" dirty="0"/>
          </a:p>
        </p:txBody>
      </p:sp>
      <p:sp>
        <p:nvSpPr>
          <p:cNvPr id="20" name="tlt4"/>
          <p:cNvSpPr/>
          <p:nvPr/>
        </p:nvSpPr>
        <p:spPr>
          <a:xfrm>
            <a:off x="9144000" y="4191000"/>
            <a:ext cx="23368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三合一感知</a:t>
            </a:r>
            <a:endParaRPr lang="en-US" sz="2500" dirty="0"/>
          </a:p>
        </p:txBody>
      </p:sp>
      <p:sp>
        <p:nvSpPr>
          <p:cNvPr id="21" name="tls4"/>
          <p:cNvSpPr/>
          <p:nvPr/>
        </p:nvSpPr>
        <p:spPr>
          <a:xfrm>
            <a:off x="9144000" y="4953000"/>
            <a:ext cx="23114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YOLOPX 加光流，15Hz 补到 30Hz</a:t>
            </a:r>
            <a:endParaRPr lang="en-US" sz="1700" dirty="0"/>
          </a:p>
        </p:txBody>
      </p:sp>
      <p:sp>
        <p:nvSpPr>
          <p:cNvPr id="22" name="sep462"/>
          <p:cNvSpPr/>
          <p:nvPr/>
        </p:nvSpPr>
        <p:spPr>
          <a:xfrm>
            <a:off x="609600" y="5867400"/>
            <a:ext cx="109728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23" name="readout"/>
          <p:cNvSpPr/>
          <p:nvPr/>
        </p:nvSpPr>
        <p:spPr>
          <a:xfrm>
            <a:off x="609600" y="6121400"/>
            <a:ext cx="1097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看变化本身，而不只是看时间点：模型、文档、性能、感知各推进一轮。</a:t>
            </a:r>
            <a:endParaRPr lang="en-US" sz="1300" dirty="0"/>
          </a:p>
        </p:txBody>
      </p:sp>
      <p:sp>
        <p:nvSpPr>
          <p:cNvPr id="24" name="footer"/>
          <p:cNvSpPr/>
          <p:nvPr/>
        </p:nvSpPr>
        <p:spPr>
          <a:xfrm>
            <a:off x="609600" y="6413500"/>
            <a:ext cx="994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C8C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来源：README 复核块、PROGRESS.md 与 Git 提交记录</a:t>
            </a:r>
            <a:endParaRPr lang="en-US" sz="900" dirty="0"/>
          </a:p>
        </p:txBody>
      </p:sp>
      <p:sp>
        <p:nvSpPr>
          <p:cNvPr id="25" name="pageno"/>
          <p:cNvSpPr/>
          <p:nvPr/>
        </p:nvSpPr>
        <p:spPr>
          <a:xfrm>
            <a:off x="11061700" y="6400800"/>
            <a:ext cx="52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42900"/>
            <a:ext cx="844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COURSE WORKSHOP / 下一步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609600" y="9652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把待办排进时间窗，留一道闸门</a:t>
            </a:r>
            <a:endParaRPr lang="en-US" sz="3000" dirty="0"/>
          </a:p>
        </p:txBody>
      </p:sp>
      <p:sp>
        <p:nvSpPr>
          <p:cNvPr id="4" name="exhibitTag"/>
          <p:cNvSpPr/>
          <p:nvPr/>
        </p:nvSpPr>
        <p:spPr>
          <a:xfrm>
            <a:off x="9575800" y="584200"/>
            <a:ext cx="2006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</a:t>
            </a:r>
            <a:endParaRPr lang="en-US" sz="900" dirty="0"/>
          </a:p>
        </p:txBody>
      </p:sp>
      <p:sp>
        <p:nvSpPr>
          <p:cNvPr id="5" name="wLabel"/>
          <p:cNvSpPr/>
          <p:nvPr/>
        </p:nvSpPr>
        <p:spPr>
          <a:xfrm>
            <a:off x="609600" y="2120900"/>
            <a:ext cx="3086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工作流 / 归属</a:t>
            </a:r>
            <a:endParaRPr lang="en-US" sz="1100" dirty="0"/>
          </a:p>
        </p:txBody>
      </p:sp>
      <p:sp>
        <p:nvSpPr>
          <p:cNvPr id="6" name="w1"/>
          <p:cNvSpPr/>
          <p:nvPr/>
        </p:nvSpPr>
        <p:spPr>
          <a:xfrm>
            <a:off x="4013200" y="2108200"/>
            <a:ext cx="1676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W1 到 2</a:t>
            </a:r>
            <a:endParaRPr lang="en-US" sz="1200" dirty="0"/>
          </a:p>
        </p:txBody>
      </p:sp>
      <p:sp>
        <p:nvSpPr>
          <p:cNvPr id="7" name="w2"/>
          <p:cNvSpPr/>
          <p:nvPr/>
        </p:nvSpPr>
        <p:spPr>
          <a:xfrm>
            <a:off x="5880100" y="2108200"/>
            <a:ext cx="1676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W3 到 4</a:t>
            </a:r>
            <a:endParaRPr lang="en-US" sz="1200" dirty="0"/>
          </a:p>
        </p:txBody>
      </p:sp>
      <p:sp>
        <p:nvSpPr>
          <p:cNvPr id="8" name="w3"/>
          <p:cNvSpPr/>
          <p:nvPr/>
        </p:nvSpPr>
        <p:spPr>
          <a:xfrm>
            <a:off x="7747000" y="2108200"/>
            <a:ext cx="1676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W5 到 6</a:t>
            </a:r>
            <a:endParaRPr lang="en-US" sz="1200" dirty="0"/>
          </a:p>
        </p:txBody>
      </p:sp>
      <p:sp>
        <p:nvSpPr>
          <p:cNvPr id="9" name="w4"/>
          <p:cNvSpPr/>
          <p:nvPr/>
        </p:nvSpPr>
        <p:spPr>
          <a:xfrm>
            <a:off x="9613900" y="2108200"/>
            <a:ext cx="1676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W7 到 8</a:t>
            </a:r>
            <a:endParaRPr lang="en-US" sz="1200" dirty="0"/>
          </a:p>
        </p:txBody>
      </p:sp>
      <p:sp>
        <p:nvSpPr>
          <p:cNvPr id="10" name="g1"/>
          <p:cNvSpPr/>
          <p:nvPr/>
        </p:nvSpPr>
        <p:spPr>
          <a:xfrm>
            <a:off x="4381500" y="2108200"/>
            <a:ext cx="12700" cy="35560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11" name="g2"/>
          <p:cNvSpPr/>
          <p:nvPr/>
        </p:nvSpPr>
        <p:spPr>
          <a:xfrm>
            <a:off x="6248400" y="2108200"/>
            <a:ext cx="12700" cy="35560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12" name="g3"/>
          <p:cNvSpPr/>
          <p:nvPr/>
        </p:nvSpPr>
        <p:spPr>
          <a:xfrm>
            <a:off x="8115300" y="2108200"/>
            <a:ext cx="12700" cy="35560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13" name="g4"/>
          <p:cNvSpPr/>
          <p:nvPr/>
        </p:nvSpPr>
        <p:spPr>
          <a:xfrm>
            <a:off x="9982200" y="2108200"/>
            <a:ext cx="12700" cy="35560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14" name="r1"/>
          <p:cNvSpPr/>
          <p:nvPr/>
        </p:nvSpPr>
        <p:spPr>
          <a:xfrm>
            <a:off x="609600" y="2603500"/>
            <a:ext cx="303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权限恢复复核</a:t>
            </a:r>
            <a:endParaRPr lang="en-US" sz="1800" dirty="0"/>
          </a:p>
        </p:txBody>
      </p:sp>
      <p:sp>
        <p:nvSpPr>
          <p:cNvPr id="15" name="r1s"/>
          <p:cNvSpPr/>
          <p:nvPr/>
        </p:nvSpPr>
        <p:spPr>
          <a:xfrm>
            <a:off x="609600" y="2984500"/>
            <a:ext cx="303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运行环境</a:t>
            </a:r>
            <a:endParaRPr lang="en-US" sz="1100" dirty="0"/>
          </a:p>
        </p:txBody>
      </p:sp>
      <p:sp>
        <p:nvSpPr>
          <p:cNvPr id="16" name="b1"/>
          <p:cNvSpPr/>
          <p:nvPr/>
        </p:nvSpPr>
        <p:spPr>
          <a:xfrm>
            <a:off x="3873500" y="2755900"/>
            <a:ext cx="1676400" cy="279400"/>
          </a:xfrm>
          <a:prstGeom prst="rect">
            <a:avLst/>
          </a:prstGeom>
          <a:solidFill>
            <a:srgbClr val="BEC3BA"/>
          </a:solidFill>
          <a:ln w="12700">
            <a:solidFill>
              <a:srgbClr val="BEC3BA"/>
            </a:solidFill>
            <a:prstDash val="solid"/>
          </a:ln>
        </p:spPr>
      </p:sp>
      <p:sp>
        <p:nvSpPr>
          <p:cNvPr id="17" name="cd1"/>
          <p:cNvSpPr/>
          <p:nvPr/>
        </p:nvSpPr>
        <p:spPr>
          <a:xfrm>
            <a:off x="5473700" y="2857500"/>
            <a:ext cx="76200" cy="76200"/>
          </a:xfrm>
          <a:prstGeom prst="ellipse">
            <a:avLst/>
          </a:prstGeom>
          <a:solidFill>
            <a:srgbClr val="839087"/>
          </a:solidFill>
          <a:ln w="12700">
            <a:solidFill>
              <a:srgbClr val="839087"/>
            </a:solidFill>
            <a:prstDash val="solid"/>
          </a:ln>
        </p:spPr>
      </p:sp>
      <p:sp>
        <p:nvSpPr>
          <p:cNvPr id="18" name="r2"/>
          <p:cNvSpPr/>
          <p:nvPr/>
        </p:nvSpPr>
        <p:spPr>
          <a:xfrm>
            <a:off x="609600" y="3378200"/>
            <a:ext cx="303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OCR 类技能 e2e</a:t>
            </a:r>
            <a:endParaRPr lang="en-US" sz="1800" dirty="0"/>
          </a:p>
        </p:txBody>
      </p:sp>
      <p:sp>
        <p:nvSpPr>
          <p:cNvPr id="19" name="r2s"/>
          <p:cNvSpPr/>
          <p:nvPr/>
        </p:nvSpPr>
        <p:spPr>
          <a:xfrm>
            <a:off x="609600" y="3759200"/>
            <a:ext cx="303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游戏内验证</a:t>
            </a:r>
            <a:endParaRPr lang="en-US" sz="1100" dirty="0"/>
          </a:p>
        </p:txBody>
      </p:sp>
      <p:sp>
        <p:nvSpPr>
          <p:cNvPr id="20" name="b2"/>
          <p:cNvSpPr/>
          <p:nvPr/>
        </p:nvSpPr>
        <p:spPr>
          <a:xfrm>
            <a:off x="5168900" y="3530600"/>
            <a:ext cx="2425700" cy="279400"/>
          </a:xfrm>
          <a:prstGeom prst="rect">
            <a:avLst/>
          </a:prstGeom>
          <a:solidFill>
            <a:srgbClr val="243F35"/>
          </a:solidFill>
          <a:ln w="12700">
            <a:solidFill>
              <a:srgbClr val="243F35"/>
            </a:solidFill>
            <a:prstDash val="solid"/>
          </a:ln>
        </p:spPr>
      </p:sp>
      <p:sp>
        <p:nvSpPr>
          <p:cNvPr id="21" name="cd2"/>
          <p:cNvSpPr/>
          <p:nvPr/>
        </p:nvSpPr>
        <p:spPr>
          <a:xfrm>
            <a:off x="7518400" y="3632200"/>
            <a:ext cx="76200" cy="76200"/>
          </a:xfrm>
          <a:prstGeom prst="ellipse">
            <a:avLst/>
          </a:prstGeom>
          <a:solidFill>
            <a:srgbClr val="243F35"/>
          </a:solidFill>
          <a:ln w="12700">
            <a:solidFill>
              <a:srgbClr val="243F35"/>
            </a:solidFill>
            <a:prstDash val="solid"/>
          </a:ln>
        </p:spPr>
      </p:sp>
      <p:sp>
        <p:nvSpPr>
          <p:cNvPr id="22" name="r3"/>
          <p:cNvSpPr/>
          <p:nvPr/>
        </p:nvSpPr>
        <p:spPr>
          <a:xfrm>
            <a:off x="609600" y="4152900"/>
            <a:ext cx="303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性能归因收尾</a:t>
            </a:r>
            <a:endParaRPr lang="en-US" sz="1800" dirty="0"/>
          </a:p>
        </p:txBody>
      </p:sp>
      <p:sp>
        <p:nvSpPr>
          <p:cNvPr id="23" name="r3s"/>
          <p:cNvSpPr/>
          <p:nvPr/>
        </p:nvSpPr>
        <p:spPr>
          <a:xfrm>
            <a:off x="609600" y="4533900"/>
            <a:ext cx="303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卡顿与定位</a:t>
            </a:r>
            <a:endParaRPr lang="en-US" sz="1100" dirty="0"/>
          </a:p>
        </p:txBody>
      </p:sp>
      <p:sp>
        <p:nvSpPr>
          <p:cNvPr id="24" name="b3"/>
          <p:cNvSpPr/>
          <p:nvPr/>
        </p:nvSpPr>
        <p:spPr>
          <a:xfrm>
            <a:off x="7226300" y="4305300"/>
            <a:ext cx="2044700" cy="279400"/>
          </a:xfrm>
          <a:prstGeom prst="rect">
            <a:avLst/>
          </a:prstGeom>
          <a:solidFill>
            <a:srgbClr val="BEC3BA"/>
          </a:solidFill>
          <a:ln w="12700">
            <a:solidFill>
              <a:srgbClr val="BEC3BA"/>
            </a:solidFill>
            <a:prstDash val="solid"/>
          </a:ln>
        </p:spPr>
      </p:sp>
      <p:sp>
        <p:nvSpPr>
          <p:cNvPr id="25" name="cd3"/>
          <p:cNvSpPr/>
          <p:nvPr/>
        </p:nvSpPr>
        <p:spPr>
          <a:xfrm>
            <a:off x="9194800" y="4406900"/>
            <a:ext cx="76200" cy="76200"/>
          </a:xfrm>
          <a:prstGeom prst="ellipse">
            <a:avLst/>
          </a:prstGeom>
          <a:solidFill>
            <a:srgbClr val="839087"/>
          </a:solidFill>
          <a:ln w="12700">
            <a:solidFill>
              <a:srgbClr val="839087"/>
            </a:solidFill>
            <a:prstDash val="solid"/>
          </a:ln>
        </p:spPr>
      </p:sp>
      <p:sp>
        <p:nvSpPr>
          <p:cNvPr id="26" name="r4"/>
          <p:cNvSpPr/>
          <p:nvPr/>
        </p:nvSpPr>
        <p:spPr>
          <a:xfrm>
            <a:off x="609600" y="4927600"/>
            <a:ext cx="303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文档同步复核</a:t>
            </a:r>
            <a:endParaRPr lang="en-US" sz="1800" dirty="0"/>
          </a:p>
        </p:txBody>
      </p:sp>
      <p:sp>
        <p:nvSpPr>
          <p:cNvPr id="27" name="r4s"/>
          <p:cNvSpPr/>
          <p:nvPr/>
        </p:nvSpPr>
        <p:spPr>
          <a:xfrm>
            <a:off x="609600" y="5308600"/>
            <a:ext cx="303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行数与接口</a:t>
            </a:r>
            <a:endParaRPr lang="en-US" sz="1100" dirty="0"/>
          </a:p>
        </p:txBody>
      </p:sp>
      <p:sp>
        <p:nvSpPr>
          <p:cNvPr id="28" name="b4"/>
          <p:cNvSpPr/>
          <p:nvPr/>
        </p:nvSpPr>
        <p:spPr>
          <a:xfrm>
            <a:off x="9093200" y="5080000"/>
            <a:ext cx="2235200" cy="279400"/>
          </a:xfrm>
          <a:prstGeom prst="rect">
            <a:avLst/>
          </a:prstGeom>
          <a:solidFill>
            <a:srgbClr val="BEC3BA"/>
          </a:solidFill>
          <a:ln w="12700">
            <a:solidFill>
              <a:srgbClr val="BEC3BA"/>
            </a:solidFill>
            <a:prstDash val="solid"/>
          </a:ln>
        </p:spPr>
      </p:sp>
      <p:sp>
        <p:nvSpPr>
          <p:cNvPr id="29" name="cd4"/>
          <p:cNvSpPr/>
          <p:nvPr/>
        </p:nvSpPr>
        <p:spPr>
          <a:xfrm>
            <a:off x="11252200" y="5181600"/>
            <a:ext cx="76200" cy="76200"/>
          </a:xfrm>
          <a:prstGeom prst="ellipse">
            <a:avLst/>
          </a:prstGeom>
          <a:solidFill>
            <a:srgbClr val="839087"/>
          </a:solidFill>
          <a:ln w="12700">
            <a:solidFill>
              <a:srgbClr val="839087"/>
            </a:solidFill>
            <a:prstDash val="solid"/>
          </a:ln>
        </p:spPr>
      </p:sp>
      <p:sp>
        <p:nvSpPr>
          <p:cNvPr id="30" name="gate"/>
          <p:cNvSpPr/>
          <p:nvPr/>
        </p:nvSpPr>
        <p:spPr>
          <a:xfrm>
            <a:off x="9042400" y="5638800"/>
            <a:ext cx="101600" cy="101600"/>
          </a:xfrm>
          <a:prstGeom prst="ellipse">
            <a:avLst/>
          </a:prstGeom>
          <a:solidFill>
            <a:srgbClr val="447A62"/>
          </a:solidFill>
          <a:ln w="12700">
            <a:solidFill>
              <a:srgbClr val="447A62"/>
            </a:solidFill>
            <a:prstDash val="solid"/>
          </a:ln>
        </p:spPr>
      </p:sp>
      <p:sp>
        <p:nvSpPr>
          <p:cNvPr id="31" name="sep462"/>
          <p:cNvSpPr/>
          <p:nvPr/>
        </p:nvSpPr>
        <p:spPr>
          <a:xfrm>
            <a:off x="609600" y="5867400"/>
            <a:ext cx="109728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32" name="readout"/>
          <p:cNvSpPr/>
          <p:nvPr/>
        </p:nvSpPr>
        <p:spPr>
          <a:xfrm>
            <a:off x="609600" y="6032500"/>
            <a:ext cx="10972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闸门：四项全过以后才对外发布实测结论。时间窗为规划示意，不是承诺排期。</a:t>
            </a:r>
            <a:endParaRPr lang="en-US" sz="1300" dirty="0"/>
          </a:p>
        </p:txBody>
      </p:sp>
      <p:sp>
        <p:nvSpPr>
          <p:cNvPr id="33" name="footer"/>
          <p:cNvSpPr/>
          <p:nvPr/>
        </p:nvSpPr>
        <p:spPr>
          <a:xfrm>
            <a:off x="609600" y="6413500"/>
            <a:ext cx="994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C8C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来源：待办清单取自 PROGRESS.md 与执行笔记 · 时间窗为示意</a:t>
            </a:r>
            <a:endParaRPr lang="en-US" sz="900" dirty="0"/>
          </a:p>
        </p:txBody>
      </p:sp>
      <p:sp>
        <p:nvSpPr>
          <p:cNvPr id="34" name="pageno"/>
          <p:cNvSpPr/>
          <p:nvPr/>
        </p:nvSpPr>
        <p:spPr>
          <a:xfrm>
            <a:off x="11061700" y="6400800"/>
            <a:ext cx="52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04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AURORADRIVE / 极光智行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609600" y="8636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把系统讲清楚，比把它说响重要</a:t>
            </a:r>
            <a:endParaRPr lang="en-US" sz="3100" dirty="0"/>
          </a:p>
        </p:txBody>
      </p:sp>
      <p:sp>
        <p:nvSpPr>
          <p:cNvPr id="4" name="closingBig"/>
          <p:cNvSpPr/>
          <p:nvPr/>
        </p:nvSpPr>
        <p:spPr>
          <a:xfrm>
            <a:off x="609600" y="2032000"/>
            <a:ext cx="8255000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捕获、推理、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定位、控制，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一环都不能少。</a:t>
            </a:r>
            <a:endParaRPr lang="en-US" sz="5400" dirty="0"/>
          </a:p>
        </p:txBody>
      </p:sp>
      <p:sp>
        <p:nvSpPr>
          <p:cNvPr id="5" name="closingCard"/>
          <p:cNvSpPr/>
          <p:nvPr/>
        </p:nvSpPr>
        <p:spPr>
          <a:xfrm>
            <a:off x="9067800" y="2133600"/>
            <a:ext cx="2514600" cy="3225800"/>
          </a:xfrm>
          <a:prstGeom prst="rect">
            <a:avLst/>
          </a:prstGeom>
          <a:solidFill>
            <a:srgbClr val="E5EBDD"/>
          </a:solidFill>
          <a:ln w="12700">
            <a:solidFill>
              <a:srgbClr val="E5EBDD"/>
            </a:solidFill>
            <a:prstDash val="solid"/>
          </a:ln>
        </p:spPr>
      </p:sp>
      <p:sp>
        <p:nvSpPr>
          <p:cNvPr id="6" name="closingCardText"/>
          <p:cNvSpPr/>
          <p:nvPr/>
        </p:nvSpPr>
        <p:spPr>
          <a:xfrm>
            <a:off x="9347200" y="2679700"/>
            <a:ext cx="19304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 5% 的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误读摸清楚</a:t>
            </a:r>
            <a:endParaRPr lang="en-US" sz="2400" dirty="0"/>
          </a:p>
        </p:txBody>
      </p:sp>
      <p:sp>
        <p:nvSpPr>
          <p:cNvPr id="7" name="pageno"/>
          <p:cNvSpPr/>
          <p:nvPr/>
        </p:nvSpPr>
        <p:spPr>
          <a:xfrm>
            <a:off x="11061700" y="6400800"/>
            <a:ext cx="52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footer"/>
          <p:cNvSpPr/>
          <p:nvPr/>
        </p:nvSpPr>
        <p:spPr>
          <a:xfrm>
            <a:off x="609600" y="6413500"/>
            <a:ext cx="994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C8C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来源：AuroraDrive 文档库 · 全部数字取自仓库实测记录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DeepSeek Harness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AuroraDrive 项目介绍</dc:title>
  <dc:subject>Local PPTD v2 editable rendering</dc:subject>
  <dc:creator>DSH PPTD</dc:creator>
  <cp:lastModifiedBy>DSH PPTD</cp:lastModifiedBy>
  <cp:revision>1</cp:revision>
  <dcterms:created xsi:type="dcterms:W3CDTF">2026-10-01T07:38:20Z</dcterms:created>
  <dcterms:modified xsi:type="dcterms:W3CDTF">2026-10-01T07:38:20Z</dcterms:modified>
</cp:coreProperties>
</file>